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1-4 unit permits, 2025</c:v>
                </c:pt>
              </c:strCache>
            </c:strRef>
          </c:tx>
          <c:spPr>
            <a:solidFill>
              <a:srgbClr val="153A5B"/>
            </a:solidFill>
            <a:effectLst/>
          </c:spPr>
          <c:invertIfNegative val="0"/>
          <c:dLbls>
            <c:numFmt formatCode="#,##0" sourceLinked="0"/>
            <c:txPr>
              <a:bodyPr/>
              <a:lstStyle/>
              <a:p>
                <a:pPr>
                  <a:defRPr b="0" i="0" strike="noStrike" sz="900" u="none">
                    <a:solidFill>
                      <a:srgbClr val="6B7280"/>
                    </a:solidFill>
                    <a:latin typeface="Arial"/>
                  </a:defRPr>
                </a:pPr>
              </a:p>
            </c:txPr>
            <c:showLegendKey val="0"/>
            <c:showVal val="1"/>
            <c:showCatName val="0"/>
            <c:showSerName val="0"/>
            <c:showPercent val="0"/>
            <c:showBubbleSize val="0"/>
            <c:showLeaderLines val="0"/>
          </c:dLbls>
          <c:cat>
            <c:multiLvlStrRef>
              <c:f>Sheet1!$A$2:$A$11</c:f>
              <c:multiLvlStrCache>
                <c:ptCount val="10"/>
                <c:lvl>
                  <c:pt idx="0">
                    <c:v>Los Angeles</c:v>
                  </c:pt>
                  <c:pt idx="1">
                    <c:v>Riverside</c:v>
                  </c:pt>
                  <c:pt idx="2">
                    <c:v>Sacramento</c:v>
                  </c:pt>
                  <c:pt idx="3">
                    <c:v>San Diego</c:v>
                  </c:pt>
                  <c:pt idx="4">
                    <c:v>San Bern.</c:v>
                  </c:pt>
                  <c:pt idx="5">
                    <c:v>Orange</c:v>
                  </c:pt>
                  <c:pt idx="6">
                    <c:v>Kern</c:v>
                  </c:pt>
                  <c:pt idx="7">
                    <c:v>Placer</c:v>
                  </c:pt>
                  <c:pt idx="8">
                    <c:v>San Joaquin</c:v>
                  </c:pt>
                  <c:pt idx="9">
                    <c:v>Fresno</c:v>
                  </c:pt>
                </c:lvl>
              </c:multiLvlStrCache>
            </c:multiLvlStrRef>
          </c:cat>
          <c:val>
            <c:numRef>
              <c:f>Sheet1!$B$2:$B$11</c:f>
              <c:numCache>
                <c:formatCode>General</c:formatCode>
                <c:ptCount val="10"/>
                <c:pt idx="0">
                  <c:v>11422</c:v>
                </c:pt>
                <c:pt idx="1">
                  <c:v>6235</c:v>
                </c:pt>
                <c:pt idx="2">
                  <c:v>4762</c:v>
                </c:pt>
                <c:pt idx="3">
                  <c:v>4385</c:v>
                </c:pt>
                <c:pt idx="4">
                  <c:v>3771</c:v>
                </c:pt>
                <c:pt idx="5">
                  <c:v>3106</c:v>
                </c:pt>
                <c:pt idx="6">
                  <c:v>3013</c:v>
                </c:pt>
                <c:pt idx="7">
                  <c:v>2690</c:v>
                </c:pt>
                <c:pt idx="8">
                  <c:v>2522</c:v>
                </c:pt>
                <c:pt idx="9">
                  <c:v>2068</c:v>
                </c:pt>
              </c:numCache>
            </c:numRef>
          </c:val>
        </c:ser>
        <c:dLbls>
          <c:numFmt formatCode="#,##0" sourceLinked="0"/>
          <c:txPr>
            <a:bodyPr/>
            <a:lstStyle/>
            <a:p>
              <a:pPr>
                <a:defRPr b="0" i="0" strike="noStrike" sz="900" u="none">
                  <a:solidFill>
                    <a:srgbClr val="6B728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6303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proven 1982 mechanism, new operating model for the small end. Every number in this deck has a cited source in the Claims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figures verified to Terner Center publications; URLs in the Claims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never claim no mechanism exists. The claim is that existing programs are built and priced for larger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Allen Matkins analysis, ABAG technical assistance page, LA City Planning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Authority chain: CDIAC Debt Financing Guide plus statute sections; PACE is an operating analogy only, never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8 flows left to right; emphasize the annual servicing loop is INSITE's recurring role and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Zone isolation is the purchaser's key comfort: no cross-collateralization between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answer lives here: every scrutinized seat is filled by a name the audience already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4:1: it is CSCDA's own adopted standard; conservatism substitutes for tenure.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challenged on the $1.56B: show the two factors and the exclusion; the conservatism is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them by name, always. The honesty is the differentiator with sophisticated audiences.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fee levels: being modeled, not quoted; consultant costs pass through the levy by statute.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slide is the credibility slide: volunteer the failure modes before anyone hunts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asks; the package hands over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A5B"/>
        </a:solidFill>
      </p:bgPr>
    </p:bg>
    <p:spTree>
      <p:nvGrpSpPr>
        <p:cNvPr id="1" name=""/>
        <p:cNvGrpSpPr/>
        <p:nvPr/>
      </p:nvGrpSpPr>
      <p:grpSpPr>
        <a:xfrm>
          <a:off x="0" y="0"/>
          <a:ext cx="0" cy="0"/>
          <a:chOff x="0" y="0"/>
          <a:chExt cx="0" cy="0"/>
        </a:xfrm>
      </p:grpSpPr>
      <p:pic>
        <p:nvPicPr>
          <p:cNvPr id="2" name="Image 0" descr="/home/claude/insite/04_BRAND/INSITE_Logo_Reversed.png">    </p:cNvPr>
          <p:cNvPicPr>
            <a:picLocks noChangeAspect="1"/>
          </p:cNvPicPr>
          <p:nvPr/>
        </p:nvPicPr>
        <p:blipFill>
          <a:blip r:embed="rId1"/>
          <a:stretch>
            <a:fillRect/>
          </a:stretch>
        </p:blipFill>
        <p:spPr>
          <a:xfrm>
            <a:off x="2395728" y="1828800"/>
            <a:ext cx="7406640" cy="1828800"/>
          </a:xfrm>
          <a:prstGeom prst="rect">
            <a:avLst/>
          </a:prstGeom>
        </p:spPr>
      </p:pic>
      <p:sp>
        <p:nvSpPr>
          <p:cNvPr id="3" name="Text 0"/>
          <p:cNvSpPr/>
          <p:nvPr/>
        </p:nvSpPr>
        <p:spPr>
          <a:xfrm>
            <a:off x="1645920" y="3886200"/>
            <a:ext cx="8869680" cy="640080"/>
          </a:xfrm>
          <a:prstGeom prst="rect">
            <a:avLst/>
          </a:prstGeom>
          <a:noFill/>
          <a:ln/>
        </p:spPr>
        <p:txBody>
          <a:bodyPr wrap="square" rtlCol="0" anchor="ctr"/>
          <a:lstStyle/>
          <a:p>
            <a:pPr algn="ctr" indent="0" marL="0">
              <a:buNone/>
            </a:pPr>
            <a:r>
              <a:rPr lang="en-US" sz="1600" dirty="0">
                <a:solidFill>
                  <a:srgbClr val="CFE0EE"/>
                </a:solidFill>
                <a:latin typeface="Arial" pitchFamily="34" charset="0"/>
                <a:ea typeface="Arial" pitchFamily="34" charset="-122"/>
                <a:cs typeface="Arial" pitchFamily="34" charset="-120"/>
              </a:rPr>
              <a:t>Land-secured financing of development impact fees for small residential subdivisions in California</a:t>
            </a:r>
            <a:endParaRPr lang="en-US" sz="1600" dirty="0"/>
          </a:p>
        </p:txBody>
      </p:sp>
      <p:sp>
        <p:nvSpPr>
          <p:cNvPr id="4" name="Text 1"/>
          <p:cNvSpPr/>
          <p:nvPr/>
        </p:nvSpPr>
        <p:spPr>
          <a:xfrm>
            <a:off x="1645920" y="4617720"/>
            <a:ext cx="8869680" cy="365760"/>
          </a:xfrm>
          <a:prstGeom prst="rect">
            <a:avLst/>
          </a:prstGeom>
          <a:noFill/>
          <a:ln/>
        </p:spPr>
        <p:txBody>
          <a:bodyPr wrap="square" rtlCol="0" anchor="ctr"/>
          <a:lstStyle/>
          <a:p>
            <a:pPr algn="ctr" indent="0" marL="0">
              <a:buNone/>
            </a:pPr>
            <a:r>
              <a:rPr lang="en-US" sz="1100" dirty="0">
                <a:solidFill>
                  <a:srgbClr val="9FD0B4"/>
                </a:solidFill>
                <a:latin typeface="Arial" pitchFamily="34" charset="0"/>
                <a:ea typeface="Arial" pitchFamily="34" charset="-122"/>
                <a:cs typeface="Arial" pitchFamily="34" charset="-120"/>
              </a:rPr>
              <a:t>Stakeholder overview  |  Pre-launch draft v1.0  |  July 2026  |  Prepared for Dennis Lanni, HGF Management Company</a:t>
            </a:r>
            <a:endParaRPr lang="en-US" sz="1100" dirty="0"/>
          </a:p>
        </p:txBody>
      </p:sp>
      <p:sp>
        <p:nvSpPr>
          <p:cNvPr id="5" name="Text 2"/>
          <p:cNvSpPr/>
          <p:nvPr/>
        </p:nvSpPr>
        <p:spPr>
          <a:xfrm>
            <a:off x="1645920" y="6172200"/>
            <a:ext cx="8869680" cy="320040"/>
          </a:xfrm>
          <a:prstGeom prst="rect">
            <a:avLst/>
          </a:prstGeom>
          <a:noFill/>
          <a:ln/>
        </p:spPr>
        <p:txBody>
          <a:bodyPr wrap="square" rtlCol="0" anchor="ctr"/>
          <a:lstStyle/>
          <a:p>
            <a:pPr algn="ctr" indent="0" marL="0">
              <a:buNone/>
            </a:pPr>
            <a:r>
              <a:rPr lang="en-US" sz="900" dirty="0">
                <a:solidFill>
                  <a:srgbClr val="8AA3BB"/>
                </a:solidFill>
                <a:latin typeface="Arial" pitchFamily="34" charset="0"/>
                <a:ea typeface="Arial" pitchFamily="34" charset="-122"/>
                <a:cs typeface="Arial" pitchFamily="34" charset="-120"/>
              </a:rPr>
              <a:t>Not an offer of financing, legal advice, or investment advice. Subject to issuer approval and counsel review.</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THE PROBLEM</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 fees are due before the first home sells</a:t>
            </a:r>
            <a:endParaRPr lang="en-US" sz="2200" dirty="0"/>
          </a:p>
        </p:txBody>
      </p:sp>
      <p:sp>
        <p:nvSpPr>
          <p:cNvPr id="21" name="Shape 19"/>
          <p:cNvSpPr/>
          <p:nvPr/>
        </p:nvSpPr>
        <p:spPr>
          <a:xfrm>
            <a:off x="0" y="932688"/>
            <a:ext cx="12188952" cy="41148"/>
          </a:xfrm>
          <a:prstGeom prst="rect">
            <a:avLst/>
          </a:prstGeom>
          <a:solidFill>
            <a:srgbClr val="3E7C59"/>
          </a:solidFill>
          <a:ln/>
        </p:spPr>
      </p:sp>
      <p:sp>
        <p:nvSpPr>
          <p:cNvPr id="22" name="Text 20"/>
          <p:cNvSpPr/>
          <p:nvPr/>
        </p:nvSpPr>
        <p:spPr>
          <a:xfrm>
            <a:off x="548640" y="1234440"/>
            <a:ext cx="11064240" cy="777240"/>
          </a:xfrm>
          <a:prstGeom prst="rect">
            <a:avLst/>
          </a:prstGeom>
          <a:noFill/>
          <a:ln/>
        </p:spPr>
        <p:txBody>
          <a:bodyPr wrap="square" rtlCol="0" anchor="ctr"/>
          <a:lstStyle/>
          <a:p>
            <a:pPr indent="0" marL="0">
              <a:buNone/>
            </a:pPr>
            <a:r>
              <a:rPr lang="en-US" sz="1350" dirty="0">
                <a:solidFill>
                  <a:srgbClr val="26303A"/>
                </a:solidFill>
                <a:latin typeface="Georgia" pitchFamily="34" charset="0"/>
                <a:ea typeface="Georgia" pitchFamily="34" charset="-122"/>
                <a:cs typeface="Georgia" pitchFamily="34" charset="-120"/>
              </a:rPr>
              <a:t>Impact fees fund the roads, parks, and utility capacity new residents need. Proposition 13 pushed cities toward charging new construction directly, and the Mitigation Fee Act governs how. The amounts are large, and they land at the building permit, months or years before revenue.</a:t>
            </a:r>
            <a:endParaRPr lang="en-US" sz="1350" dirty="0"/>
          </a:p>
        </p:txBody>
      </p:sp>
      <p:sp>
        <p:nvSpPr>
          <p:cNvPr id="23" name="Shape 21"/>
          <p:cNvSpPr/>
          <p:nvPr/>
        </p:nvSpPr>
        <p:spPr>
          <a:xfrm>
            <a:off x="548640" y="2286000"/>
            <a:ext cx="3566160" cy="1737360"/>
          </a:xfrm>
          <a:prstGeom prst="rect">
            <a:avLst/>
          </a:prstGeom>
          <a:solidFill>
            <a:srgbClr val="FFFFFF"/>
          </a:solidFill>
          <a:ln w="12700">
            <a:solidFill>
              <a:srgbClr val="D3DAE3"/>
            </a:solidFill>
            <a:prstDash val="solid"/>
          </a:ln>
        </p:spPr>
      </p:sp>
      <p:sp>
        <p:nvSpPr>
          <p:cNvPr id="24" name="Shape 22"/>
          <p:cNvSpPr/>
          <p:nvPr/>
        </p:nvSpPr>
        <p:spPr>
          <a:xfrm>
            <a:off x="548640" y="2286000"/>
            <a:ext cx="3566160" cy="64008"/>
          </a:xfrm>
          <a:prstGeom prst="rect">
            <a:avLst/>
          </a:prstGeom>
          <a:solidFill>
            <a:srgbClr val="3E7C59"/>
          </a:solidFill>
          <a:ln/>
        </p:spPr>
      </p:sp>
      <p:sp>
        <p:nvSpPr>
          <p:cNvPr id="25" name="Text 23"/>
          <p:cNvSpPr/>
          <p:nvPr/>
        </p:nvSpPr>
        <p:spPr>
          <a:xfrm>
            <a:off x="685800" y="2450592"/>
            <a:ext cx="3291840" cy="548640"/>
          </a:xfrm>
          <a:prstGeom prst="rect">
            <a:avLst/>
          </a:prstGeom>
          <a:noFill/>
          <a:ln/>
        </p:spPr>
        <p:txBody>
          <a:bodyPr wrap="square" rtlCol="0" anchor="ctr"/>
          <a:lstStyle/>
          <a:p>
            <a:pPr indent="0" marL="0">
              <a:buNone/>
            </a:pPr>
            <a:r>
              <a:rPr lang="en-US" sz="2600" b="1" dirty="0">
                <a:solidFill>
                  <a:srgbClr val="153A5B"/>
                </a:solidFill>
                <a:latin typeface="Arial" pitchFamily="34" charset="0"/>
                <a:ea typeface="Arial" pitchFamily="34" charset="-122"/>
                <a:cs typeface="Arial" pitchFamily="34" charset="-120"/>
              </a:rPr>
              <a:t>$23,455</a:t>
            </a:r>
            <a:endParaRPr lang="en-US" sz="2600" dirty="0"/>
          </a:p>
        </p:txBody>
      </p:sp>
      <p:sp>
        <p:nvSpPr>
          <p:cNvPr id="26" name="Text 24"/>
          <p:cNvSpPr/>
          <p:nvPr/>
        </p:nvSpPr>
        <p:spPr>
          <a:xfrm>
            <a:off x="685800" y="3035808"/>
            <a:ext cx="3291840" cy="914400"/>
          </a:xfrm>
          <a:prstGeom prst="rect">
            <a:avLst/>
          </a:prstGeom>
          <a:noFill/>
          <a:ln/>
        </p:spPr>
        <p:txBody>
          <a:bodyPr wrap="square" rtlCol="0" anchor="ctr"/>
          <a:lstStyle/>
          <a:p>
            <a:pPr indent="0" marL="0">
              <a:buNone/>
            </a:pPr>
            <a:r>
              <a:rPr lang="en-US" sz="1050" dirty="0">
                <a:solidFill>
                  <a:srgbClr val="6B7280"/>
                </a:solidFill>
                <a:latin typeface="Arial" pitchFamily="34" charset="0"/>
                <a:ea typeface="Arial" pitchFamily="34" charset="-122"/>
                <a:cs typeface="Arial" pitchFamily="34" charset="-120"/>
              </a:rPr>
              <a:t>Average California impact fee per single-family home (2015), nearly 3x the national average. Terner Center, UC Berkeley</a:t>
            </a:r>
            <a:endParaRPr lang="en-US" sz="1050" dirty="0"/>
          </a:p>
        </p:txBody>
      </p:sp>
      <p:sp>
        <p:nvSpPr>
          <p:cNvPr id="27" name="Shape 25"/>
          <p:cNvSpPr/>
          <p:nvPr/>
        </p:nvSpPr>
        <p:spPr>
          <a:xfrm>
            <a:off x="4315968" y="2286000"/>
            <a:ext cx="3566160" cy="1737360"/>
          </a:xfrm>
          <a:prstGeom prst="rect">
            <a:avLst/>
          </a:prstGeom>
          <a:solidFill>
            <a:srgbClr val="FFFFFF"/>
          </a:solidFill>
          <a:ln w="12700">
            <a:solidFill>
              <a:srgbClr val="D3DAE3"/>
            </a:solidFill>
            <a:prstDash val="solid"/>
          </a:ln>
        </p:spPr>
      </p:sp>
      <p:sp>
        <p:nvSpPr>
          <p:cNvPr id="28" name="Shape 26"/>
          <p:cNvSpPr/>
          <p:nvPr/>
        </p:nvSpPr>
        <p:spPr>
          <a:xfrm>
            <a:off x="4315968" y="2286000"/>
            <a:ext cx="3566160" cy="64008"/>
          </a:xfrm>
          <a:prstGeom prst="rect">
            <a:avLst/>
          </a:prstGeom>
          <a:solidFill>
            <a:srgbClr val="3E7C59"/>
          </a:solidFill>
          <a:ln/>
        </p:spPr>
      </p:sp>
      <p:sp>
        <p:nvSpPr>
          <p:cNvPr id="29" name="Text 27"/>
          <p:cNvSpPr/>
          <p:nvPr/>
        </p:nvSpPr>
        <p:spPr>
          <a:xfrm>
            <a:off x="4453128" y="2450592"/>
            <a:ext cx="3291840" cy="548640"/>
          </a:xfrm>
          <a:prstGeom prst="rect">
            <a:avLst/>
          </a:prstGeom>
          <a:noFill/>
          <a:ln/>
        </p:spPr>
        <p:txBody>
          <a:bodyPr wrap="square" rtlCol="0" anchor="ctr"/>
          <a:lstStyle/>
          <a:p>
            <a:pPr indent="0" marL="0">
              <a:buNone/>
            </a:pPr>
            <a:r>
              <a:rPr lang="en-US" sz="2600" b="1" dirty="0">
                <a:solidFill>
                  <a:srgbClr val="153A5B"/>
                </a:solidFill>
                <a:latin typeface="Arial" pitchFamily="34" charset="0"/>
                <a:ea typeface="Arial" pitchFamily="34" charset="-122"/>
                <a:cs typeface="Arial" pitchFamily="34" charset="-120"/>
              </a:rPr>
              <a:t>$150,000+</a:t>
            </a:r>
            <a:endParaRPr lang="en-US" sz="2600" dirty="0"/>
          </a:p>
        </p:txBody>
      </p:sp>
      <p:sp>
        <p:nvSpPr>
          <p:cNvPr id="30" name="Text 28"/>
          <p:cNvSpPr/>
          <p:nvPr/>
        </p:nvSpPr>
        <p:spPr>
          <a:xfrm>
            <a:off x="4453128" y="3035808"/>
            <a:ext cx="3291840" cy="914400"/>
          </a:xfrm>
          <a:prstGeom prst="rect">
            <a:avLst/>
          </a:prstGeom>
          <a:noFill/>
          <a:ln/>
        </p:spPr>
        <p:txBody>
          <a:bodyPr wrap="square" rtlCol="0" anchor="ctr"/>
          <a:lstStyle/>
          <a:p>
            <a:pPr indent="0" marL="0">
              <a:buNone/>
            </a:pPr>
            <a:r>
              <a:rPr lang="en-US" sz="1050" dirty="0">
                <a:solidFill>
                  <a:srgbClr val="6B7280"/>
                </a:solidFill>
                <a:latin typeface="Arial" pitchFamily="34" charset="0"/>
                <a:ea typeface="Arial" pitchFamily="34" charset="-122"/>
                <a:cs typeface="Arial" pitchFamily="34" charset="-120"/>
              </a:rPr>
              <a:t>Total development charges per unit in some California cities, before utility fees. Terner Center / HCD study</a:t>
            </a:r>
            <a:endParaRPr lang="en-US" sz="1050" dirty="0"/>
          </a:p>
        </p:txBody>
      </p:sp>
      <p:sp>
        <p:nvSpPr>
          <p:cNvPr id="31" name="Shape 29"/>
          <p:cNvSpPr/>
          <p:nvPr/>
        </p:nvSpPr>
        <p:spPr>
          <a:xfrm>
            <a:off x="8083296" y="2286000"/>
            <a:ext cx="3566160" cy="1737360"/>
          </a:xfrm>
          <a:prstGeom prst="rect">
            <a:avLst/>
          </a:prstGeom>
          <a:solidFill>
            <a:srgbClr val="FFFFFF"/>
          </a:solidFill>
          <a:ln w="12700">
            <a:solidFill>
              <a:srgbClr val="D3DAE3"/>
            </a:solidFill>
            <a:prstDash val="solid"/>
          </a:ln>
        </p:spPr>
      </p:sp>
      <p:sp>
        <p:nvSpPr>
          <p:cNvPr id="32" name="Shape 30"/>
          <p:cNvSpPr/>
          <p:nvPr/>
        </p:nvSpPr>
        <p:spPr>
          <a:xfrm>
            <a:off x="8083296" y="2286000"/>
            <a:ext cx="3566160" cy="64008"/>
          </a:xfrm>
          <a:prstGeom prst="rect">
            <a:avLst/>
          </a:prstGeom>
          <a:solidFill>
            <a:srgbClr val="3E7C59"/>
          </a:solidFill>
          <a:ln/>
        </p:spPr>
      </p:sp>
      <p:sp>
        <p:nvSpPr>
          <p:cNvPr id="33" name="Text 31"/>
          <p:cNvSpPr/>
          <p:nvPr/>
        </p:nvSpPr>
        <p:spPr>
          <a:xfrm>
            <a:off x="8220456" y="2450592"/>
            <a:ext cx="3291840" cy="548640"/>
          </a:xfrm>
          <a:prstGeom prst="rect">
            <a:avLst/>
          </a:prstGeom>
          <a:noFill/>
          <a:ln/>
        </p:spPr>
        <p:txBody>
          <a:bodyPr wrap="square" rtlCol="0" anchor="ctr"/>
          <a:lstStyle/>
          <a:p>
            <a:pPr indent="0" marL="0">
              <a:buNone/>
            </a:pPr>
            <a:r>
              <a:rPr lang="en-US" sz="2600" b="1" dirty="0">
                <a:solidFill>
                  <a:srgbClr val="153A5B"/>
                </a:solidFill>
                <a:latin typeface="Arial" pitchFamily="34" charset="0"/>
                <a:ea typeface="Arial" pitchFamily="34" charset="-122"/>
                <a:cs typeface="Arial" pitchFamily="34" charset="-120"/>
              </a:rPr>
              <a:t>$19,806</a:t>
            </a:r>
            <a:endParaRPr lang="en-US" sz="2600" dirty="0"/>
          </a:p>
        </p:txBody>
      </p:sp>
      <p:sp>
        <p:nvSpPr>
          <p:cNvPr id="34" name="Text 32"/>
          <p:cNvSpPr/>
          <p:nvPr/>
        </p:nvSpPr>
        <p:spPr>
          <a:xfrm>
            <a:off x="8220456" y="3035808"/>
            <a:ext cx="3291840" cy="914400"/>
          </a:xfrm>
          <a:prstGeom prst="rect">
            <a:avLst/>
          </a:prstGeom>
          <a:noFill/>
          <a:ln/>
        </p:spPr>
        <p:txBody>
          <a:bodyPr wrap="square" rtlCol="0" anchor="ctr"/>
          <a:lstStyle/>
          <a:p>
            <a:pPr indent="0" marL="0">
              <a:buNone/>
            </a:pPr>
            <a:r>
              <a:rPr lang="en-US" sz="1050" dirty="0">
                <a:solidFill>
                  <a:srgbClr val="6B7280"/>
                </a:solidFill>
                <a:latin typeface="Arial" pitchFamily="34" charset="0"/>
                <a:ea typeface="Arial" pitchFamily="34" charset="-122"/>
                <a:cs typeface="Arial" pitchFamily="34" charset="-120"/>
              </a:rPr>
              <a:t>Average impact fee per unit on 2020-2023 affordable projects; 134 projects paid over $30,000 per unit. Terner Center, 2026</a:t>
            </a:r>
            <a:endParaRPr lang="en-US" sz="1050" dirty="0"/>
          </a:p>
        </p:txBody>
      </p:sp>
      <p:sp>
        <p:nvSpPr>
          <p:cNvPr id="35" name="Text 33"/>
          <p:cNvSpPr/>
          <p:nvPr/>
        </p:nvSpPr>
        <p:spPr>
          <a:xfrm>
            <a:off x="548640" y="4434840"/>
            <a:ext cx="11064240" cy="457200"/>
          </a:xfrm>
          <a:prstGeom prst="rect">
            <a:avLst/>
          </a:prstGeom>
          <a:noFill/>
          <a:ln/>
        </p:spPr>
        <p:txBody>
          <a:bodyPr wrap="square" rtlCol="0" anchor="ctr"/>
          <a:lstStyle/>
          <a:p>
            <a:pPr indent="0" marL="0">
              <a:buNone/>
            </a:pPr>
            <a:r>
              <a:rPr lang="en-US" sz="1500" b="1" dirty="0">
                <a:solidFill>
                  <a:srgbClr val="153A5B"/>
                </a:solidFill>
                <a:latin typeface="Arial" pitchFamily="34" charset="0"/>
                <a:ea typeface="Arial" pitchFamily="34" charset="-122"/>
                <a:cs typeface="Arial" pitchFamily="34" charset="-120"/>
              </a:rPr>
              <a:t>A ten-home project can owe several hundred thousand dollars at the permit counter.</a:t>
            </a:r>
            <a:endParaRPr lang="en-US" sz="1500" dirty="0"/>
          </a:p>
        </p:txBody>
      </p:sp>
      <p:sp>
        <p:nvSpPr>
          <p:cNvPr id="36" name="Text 34"/>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37" name="Text 35"/>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WHO IT HITS</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Small builders pay the most for money</a:t>
            </a:r>
            <a:endParaRPr lang="en-US" sz="2200" dirty="0"/>
          </a:p>
        </p:txBody>
      </p:sp>
      <p:sp>
        <p:nvSpPr>
          <p:cNvPr id="21" name="Shape 19"/>
          <p:cNvSpPr/>
          <p:nvPr/>
        </p:nvSpPr>
        <p:spPr>
          <a:xfrm>
            <a:off x="0" y="932688"/>
            <a:ext cx="12188952" cy="41148"/>
          </a:xfrm>
          <a:prstGeom prst="rect">
            <a:avLst/>
          </a:prstGeom>
          <a:solidFill>
            <a:srgbClr val="3E7C59"/>
          </a:solidFill>
          <a:ln/>
        </p:spPr>
      </p:sp>
      <p:sp>
        <p:nvSpPr>
          <p:cNvPr id="22" name="Text 20"/>
          <p:cNvSpPr/>
          <p:nvPr/>
        </p:nvSpPr>
        <p:spPr>
          <a:xfrm>
            <a:off x="548640" y="1371600"/>
            <a:ext cx="11064240" cy="3108960"/>
          </a:xfrm>
          <a:prstGeom prst="rect">
            <a:avLst/>
          </a:prstGeom>
          <a:noFill/>
          <a:ln/>
        </p:spPr>
        <p:txBody>
          <a:bodyPr wrap="square" rtlCol="0" anchor="t"/>
          <a:lstStyle/>
          <a:p>
            <a:pPr marL="152400" indent="-152400">
              <a:spcAft>
                <a:spcPts val="800"/>
              </a:spcAft>
              <a:buSzPct val="100000"/>
              <a:buChar char="•"/>
            </a:pPr>
            <a:r>
              <a:rPr lang="en-US" sz="1500" dirty="0">
                <a:solidFill>
                  <a:srgbClr val="26303A"/>
                </a:solidFill>
                <a:latin typeface="Arial" pitchFamily="34" charset="0"/>
                <a:ea typeface="Arial" pitchFamily="34" charset="-122"/>
                <a:cs typeface="Arial" pitchFamily="34" charset="-120"/>
              </a:rPr>
              <a:t>Projects of 2 to 50 lots rarely carry institutional credit lines; the fee bill comes from working capital or private lenders</a:t>
            </a:r>
            <a:endParaRPr lang="en-US" sz="1500" dirty="0"/>
          </a:p>
          <a:p>
            <a:pPr marL="152400" indent="-152400">
              <a:spcAft>
                <a:spcPts val="800"/>
              </a:spcAft>
              <a:buSzPct val="100000"/>
              <a:buChar char="•"/>
            </a:pPr>
            <a:r>
              <a:rPr lang="en-US" sz="1500" dirty="0">
                <a:solidFill>
                  <a:srgbClr val="26303A"/>
                </a:solidFill>
                <a:latin typeface="Arial" pitchFamily="34" charset="0"/>
                <a:ea typeface="Arial" pitchFamily="34" charset="-122"/>
                <a:cs typeface="Arial" pitchFamily="34" charset="-120"/>
              </a:rPr>
              <a:t>Published 2025-2026 guides price private real estate money at roughly 9.5 to 15 percent, with land at the expensive end</a:t>
            </a:r>
            <a:endParaRPr lang="en-US" sz="1500" dirty="0"/>
          </a:p>
          <a:p>
            <a:pPr marL="152400" indent="-152400">
              <a:spcAft>
                <a:spcPts val="800"/>
              </a:spcAft>
              <a:buSzPct val="100000"/>
              <a:buChar char="•"/>
            </a:pPr>
            <a:r>
              <a:rPr lang="en-US" sz="1500" dirty="0">
                <a:solidFill>
                  <a:srgbClr val="26303A"/>
                </a:solidFill>
                <a:latin typeface="Arial" pitchFamily="34" charset="0"/>
                <a:ea typeface="Arial" pitchFamily="34" charset="-122"/>
                <a:cs typeface="Arial" pitchFamily="34" charset="-120"/>
              </a:rPr>
              <a:t>Cash paid at the counter is cash not building homes; expensive money shrinks what small builders can deliver</a:t>
            </a:r>
            <a:endParaRPr lang="en-US" sz="1500" dirty="0"/>
          </a:p>
          <a:p>
            <a:pPr marL="152400" indent="-152400">
              <a:spcAft>
                <a:spcPts val="800"/>
              </a:spcAft>
              <a:buSzPct val="100000"/>
              <a:buChar char="•"/>
            </a:pPr>
            <a:r>
              <a:rPr lang="en-US" sz="1500" dirty="0">
                <a:solidFill>
                  <a:srgbClr val="26303A"/>
                </a:solidFill>
                <a:latin typeface="Arial" pitchFamily="34" charset="0"/>
                <a:ea typeface="Arial" pitchFamily="34" charset="-122"/>
                <a:cs typeface="Arial" pitchFamily="34" charset="-120"/>
              </a:rPr>
              <a:t>Large master-planned communities solved this decades ago with land-secured districts; small projects were priced out of the tool</a:t>
            </a:r>
            <a:endParaRPr lang="en-US" sz="1500" dirty="0"/>
          </a:p>
        </p:txBody>
      </p:sp>
      <p:sp>
        <p:nvSpPr>
          <p:cNvPr id="23" name="Shape 21"/>
          <p:cNvSpPr/>
          <p:nvPr/>
        </p:nvSpPr>
        <p:spPr>
          <a:xfrm>
            <a:off x="548640" y="4754880"/>
            <a:ext cx="11064240" cy="1051560"/>
          </a:xfrm>
          <a:prstGeom prst="rect">
            <a:avLst/>
          </a:prstGeom>
          <a:solidFill>
            <a:srgbClr val="F5F7FA"/>
          </a:solidFill>
          <a:ln w="12700">
            <a:solidFill>
              <a:srgbClr val="D3DAE3"/>
            </a:solidFill>
            <a:prstDash val="solid"/>
          </a:ln>
        </p:spPr>
      </p:sp>
      <p:sp>
        <p:nvSpPr>
          <p:cNvPr id="24" name="Text 22"/>
          <p:cNvSpPr/>
          <p:nvPr/>
        </p:nvSpPr>
        <p:spPr>
          <a:xfrm>
            <a:off x="777240" y="4956048"/>
            <a:ext cx="10607040" cy="640080"/>
          </a:xfrm>
          <a:prstGeom prst="rect">
            <a:avLst/>
          </a:prstGeom>
          <a:noFill/>
          <a:ln/>
        </p:spPr>
        <p:txBody>
          <a:bodyPr wrap="square" rtlCol="0" anchor="ctr"/>
          <a:lstStyle/>
          <a:p>
            <a:pPr indent="0" marL="0">
              <a:buNone/>
            </a:pPr>
            <a:r>
              <a:rPr lang="en-US" sz="1450" i="1" dirty="0">
                <a:solidFill>
                  <a:srgbClr val="153A5B"/>
                </a:solidFill>
                <a:latin typeface="Georgia" pitchFamily="34" charset="0"/>
                <a:ea typeface="Georgia" pitchFamily="34" charset="-122"/>
                <a:cs typeface="Georgia" pitchFamily="34" charset="-120"/>
              </a:rPr>
              <a:t>The gap is not legal capability. It is transaction economics and calendar cadence, and that is an operating-model problem.</a:t>
            </a:r>
            <a:endParaRPr lang="en-US" sz="1450" dirty="0"/>
          </a:p>
        </p:txBody>
      </p:sp>
      <p:sp>
        <p:nvSpPr>
          <p:cNvPr id="25" name="Text 23"/>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26" name="Text 24"/>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WHY NOW</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 state is mass-producing exactly these projects</a:t>
            </a:r>
            <a:endParaRPr lang="en-US" sz="2200" dirty="0"/>
          </a:p>
        </p:txBody>
      </p:sp>
      <p:sp>
        <p:nvSpPr>
          <p:cNvPr id="21" name="Shape 19"/>
          <p:cNvSpPr/>
          <p:nvPr/>
        </p:nvSpPr>
        <p:spPr>
          <a:xfrm>
            <a:off x="0" y="932688"/>
            <a:ext cx="12188952" cy="41148"/>
          </a:xfrm>
          <a:prstGeom prst="rect">
            <a:avLst/>
          </a:prstGeom>
          <a:solidFill>
            <a:srgbClr val="3E7C59"/>
          </a:solidFill>
          <a:ln/>
        </p:spPr>
      </p:sp>
      <p:sp>
        <p:nvSpPr>
          <p:cNvPr id="22" name="Text 20"/>
          <p:cNvSpPr/>
          <p:nvPr/>
        </p:nvSpPr>
        <p:spPr>
          <a:xfrm>
            <a:off x="548640" y="1554480"/>
            <a:ext cx="2377440" cy="1554480"/>
          </a:xfrm>
          <a:prstGeom prst="rect">
            <a:avLst/>
          </a:prstGeom>
          <a:noFill/>
          <a:ln/>
        </p:spPr>
        <p:txBody>
          <a:bodyPr wrap="square" rtlCol="0" anchor="ctr"/>
          <a:lstStyle/>
          <a:p>
            <a:pPr indent="0" marL="0">
              <a:buNone/>
            </a:pPr>
            <a:r>
              <a:rPr lang="en-US" sz="8800" b="1" dirty="0">
                <a:solidFill>
                  <a:srgbClr val="3E7C59"/>
                </a:solidFill>
                <a:latin typeface="Arial" pitchFamily="34" charset="0"/>
                <a:ea typeface="Arial" pitchFamily="34" charset="-122"/>
                <a:cs typeface="Arial" pitchFamily="34" charset="-120"/>
              </a:rPr>
              <a:t>10</a:t>
            </a:r>
            <a:endParaRPr lang="en-US" sz="8800" dirty="0"/>
          </a:p>
        </p:txBody>
      </p:sp>
      <p:sp>
        <p:nvSpPr>
          <p:cNvPr id="23" name="Text 21"/>
          <p:cNvSpPr/>
          <p:nvPr/>
        </p:nvSpPr>
        <p:spPr>
          <a:xfrm>
            <a:off x="594360" y="3063240"/>
            <a:ext cx="2651760" cy="731520"/>
          </a:xfrm>
          <a:prstGeom prst="rect">
            <a:avLst/>
          </a:prstGeom>
          <a:noFill/>
          <a:ln/>
        </p:spPr>
        <p:txBody>
          <a:bodyPr wrap="square" rtlCol="0" anchor="ctr"/>
          <a:lstStyle/>
          <a:p>
            <a:pPr indent="0" marL="0">
              <a:buNone/>
            </a:pPr>
            <a:r>
              <a:rPr lang="en-US" sz="1300" b="1" dirty="0">
                <a:solidFill>
                  <a:srgbClr val="153A5B"/>
                </a:solidFill>
                <a:latin typeface="Arial" pitchFamily="34" charset="0"/>
                <a:ea typeface="Arial" pitchFamily="34" charset="-122"/>
                <a:cs typeface="Arial" pitchFamily="34" charset="-120"/>
              </a:rPr>
              <a:t>lots or fewer,</a:t>
            </a:r>
            <a:endParaRPr lang="en-US" sz="1300" dirty="0"/>
          </a:p>
          <a:p>
            <a:pPr indent="0" marL="0">
              <a:buNone/>
            </a:pPr>
            <a:r>
              <a:rPr lang="en-US" sz="1300" b="1" dirty="0">
                <a:solidFill>
                  <a:srgbClr val="153A5B"/>
                </a:solidFill>
                <a:latin typeface="Arial" pitchFamily="34" charset="0"/>
                <a:ea typeface="Arial" pitchFamily="34" charset="-122"/>
                <a:cs typeface="Arial" pitchFamily="34" charset="-120"/>
              </a:rPr>
              <a:t>approved ministerially</a:t>
            </a:r>
            <a:endParaRPr lang="en-US" sz="1300" dirty="0"/>
          </a:p>
        </p:txBody>
      </p:sp>
      <p:sp>
        <p:nvSpPr>
          <p:cNvPr id="24" name="Text 22"/>
          <p:cNvSpPr/>
          <p:nvPr/>
        </p:nvSpPr>
        <p:spPr>
          <a:xfrm>
            <a:off x="3566160" y="1371600"/>
            <a:ext cx="8046720" cy="4206240"/>
          </a:xfrm>
          <a:prstGeom prst="rect">
            <a:avLst/>
          </a:prstGeom>
          <a:noFill/>
          <a:ln/>
        </p:spPr>
        <p:txBody>
          <a:bodyPr wrap="square" rtlCol="0" anchor="t"/>
          <a:lstStyle/>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Senate Bill 684 (effective July 2024): subdivisions of 10 or fewer lots on multifamily-zoned sites must be approved ministerially, no hearings, no discretionary review, no environmental review, on a 60-day clock</a:t>
            </a:r>
            <a:endParaRPr lang="en-US" sz="1450" dirty="0"/>
          </a:p>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Senate Bill 1123 (effective July 2025): the same fast lane extends to vacant single-family-zoned lots up to 1.5 acres</a:t>
            </a:r>
            <a:endParaRPr lang="en-US" sz="1450" dirty="0"/>
          </a:p>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Cities including Los Angeles have published implementation checklists; the pipeline grows by statute</a:t>
            </a:r>
            <a:endParaRPr lang="en-US" sz="1450" dirty="0"/>
          </a:p>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Every one of these projects meets the fee counter at the building permit</a:t>
            </a:r>
            <a:endParaRPr lang="en-US" sz="1450" dirty="0"/>
          </a:p>
        </p:txBody>
      </p:sp>
      <p:sp>
        <p:nvSpPr>
          <p:cNvPr id="25" name="Text 23"/>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26" name="Text 24"/>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THE MECHANISM</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A 44-year-old law, used as designed</a:t>
            </a:r>
            <a:endParaRPr lang="en-US" sz="2200" dirty="0"/>
          </a:p>
        </p:txBody>
      </p:sp>
      <p:sp>
        <p:nvSpPr>
          <p:cNvPr id="21" name="Shape 19"/>
          <p:cNvSpPr/>
          <p:nvPr/>
        </p:nvSpPr>
        <p:spPr>
          <a:xfrm>
            <a:off x="0" y="932688"/>
            <a:ext cx="12188952" cy="41148"/>
          </a:xfrm>
          <a:prstGeom prst="rect">
            <a:avLst/>
          </a:prstGeom>
          <a:solidFill>
            <a:srgbClr val="3E7C59"/>
          </a:solidFill>
          <a:ln/>
        </p:spPr>
      </p:sp>
      <p:sp>
        <p:nvSpPr>
          <p:cNvPr id="22" name="Text 20"/>
          <p:cNvSpPr/>
          <p:nvPr/>
        </p:nvSpPr>
        <p:spPr>
          <a:xfrm>
            <a:off x="548640" y="1280160"/>
            <a:ext cx="11064240" cy="4572000"/>
          </a:xfrm>
          <a:prstGeom prst="rect">
            <a:avLst/>
          </a:prstGeom>
          <a:noFill/>
          <a:ln/>
        </p:spPr>
        <p:txBody>
          <a:bodyPr wrap="square" rtlCol="0" anchor="t"/>
          <a:lstStyle/>
          <a:p>
            <a:pPr marL="152400" indent="-152400">
              <a:spcAft>
                <a:spcPts val="800"/>
              </a:spcAft>
              <a:buSzPct val="100000"/>
              <a:buChar char="•"/>
            </a:pPr>
            <a:r>
              <a:rPr lang="en-US" sz="1400" dirty="0">
                <a:solidFill>
                  <a:srgbClr val="26303A"/>
                </a:solidFill>
                <a:latin typeface="Arial" pitchFamily="34" charset="0"/>
                <a:ea typeface="Arial" pitchFamily="34" charset="-122"/>
                <a:cs typeface="Arial" pitchFamily="34" charset="-120"/>
              </a:rPr>
              <a:t>The Mello-Roos Community Facilities Act of 1982 (Government Code 53311 and following) lets a public agency levy a voluntary special tax inside a Community Facilities District</a:t>
            </a:r>
            <a:endParaRPr lang="en-US" sz="1400" dirty="0"/>
          </a:p>
          <a:p>
            <a:pPr marL="152400" indent="-152400">
              <a:spcAft>
                <a:spcPts val="800"/>
              </a:spcAft>
              <a:buSzPct val="100000"/>
              <a:buChar char="•"/>
            </a:pPr>
            <a:r>
              <a:rPr lang="en-US" sz="1400" dirty="0">
                <a:solidFill>
                  <a:srgbClr val="26303A"/>
                </a:solidFill>
                <a:latin typeface="Arial" pitchFamily="34" charset="0"/>
                <a:ea typeface="Arial" pitchFamily="34" charset="-122"/>
                <a:cs typeface="Arial" pitchFamily="34" charset="-120"/>
              </a:rPr>
              <a:t>On undeveloped land with fewer than 12 registered voters, the landowners are the electors: the developer approves the tax on their own property</a:t>
            </a:r>
            <a:endParaRPr lang="en-US" sz="1400" dirty="0"/>
          </a:p>
          <a:p>
            <a:pPr marL="152400" indent="-152400">
              <a:spcAft>
                <a:spcPts val="800"/>
              </a:spcAft>
              <a:buSzPct val="100000"/>
              <a:buChar char="•"/>
            </a:pPr>
            <a:r>
              <a:rPr lang="en-US" sz="1400" dirty="0">
                <a:solidFill>
                  <a:srgbClr val="26303A"/>
                </a:solidFill>
                <a:latin typeface="Arial" pitchFamily="34" charset="0"/>
                <a:ea typeface="Arial" pitchFamily="34" charset="-122"/>
                <a:cs typeface="Arial" pitchFamily="34" charset="-120"/>
              </a:rPr>
              <a:t>The approved tax becomes a recorded lien, billed and collected with the ordinary property tax bill, with a foreclosure remedy behind it</a:t>
            </a:r>
            <a:endParaRPr lang="en-US" sz="1400" dirty="0"/>
          </a:p>
          <a:p>
            <a:pPr marL="152400" indent="-152400">
              <a:spcAft>
                <a:spcPts val="800"/>
              </a:spcAft>
              <a:buSzPct val="100000"/>
              <a:buChar char="•"/>
            </a:pPr>
            <a:r>
              <a:rPr lang="en-US" sz="1400" dirty="0">
                <a:solidFill>
                  <a:srgbClr val="26303A"/>
                </a:solidFill>
                <a:latin typeface="Arial" pitchFamily="34" charset="0"/>
                <a:ea typeface="Arial" pitchFamily="34" charset="-122"/>
                <a:cs typeface="Arial" pitchFamily="34" charset="-120"/>
              </a:rPr>
              <a:t>Districts may finance development impact fees themselves, may cover scattered parcels, and may designate a future annexation area new projects join later</a:t>
            </a:r>
            <a:endParaRPr lang="en-US" sz="1400" dirty="0"/>
          </a:p>
          <a:p>
            <a:pPr marL="152400" indent="-152400">
              <a:spcAft>
                <a:spcPts val="800"/>
              </a:spcAft>
              <a:buSzPct val="100000"/>
              <a:buChar char="•"/>
            </a:pPr>
            <a:r>
              <a:rPr lang="en-US" sz="1400" dirty="0">
                <a:solidFill>
                  <a:srgbClr val="26303A"/>
                </a:solidFill>
                <a:latin typeface="Arial" pitchFamily="34" charset="0"/>
                <a:ea typeface="Arial" pitchFamily="34" charset="-122"/>
                <a:cs typeface="Arial" pitchFamily="34" charset="-120"/>
              </a:rPr>
              <a:t>Statutory protections: an occupied home's tax cannot rise more than 10 percent because a neighbor went delinquent (53321(d)); the tax can never be based on property value; every owner holds a defined prepayment right</a:t>
            </a:r>
            <a:endParaRPr lang="en-US" sz="1400" dirty="0"/>
          </a:p>
        </p:txBody>
      </p:sp>
      <p:sp>
        <p:nvSpPr>
          <p:cNvPr id="23" name="Text 21"/>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24" name="Text 22"/>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THE ARCHITECTURE</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One district per city. One signature per project.</a:t>
            </a:r>
            <a:endParaRPr lang="en-US" sz="2200" dirty="0"/>
          </a:p>
        </p:txBody>
      </p:sp>
      <p:sp>
        <p:nvSpPr>
          <p:cNvPr id="21" name="Shape 19"/>
          <p:cNvSpPr/>
          <p:nvPr/>
        </p:nvSpPr>
        <p:spPr>
          <a:xfrm>
            <a:off x="0" y="932688"/>
            <a:ext cx="12188952" cy="41148"/>
          </a:xfrm>
          <a:prstGeom prst="rect">
            <a:avLst/>
          </a:prstGeom>
          <a:solidFill>
            <a:srgbClr val="3E7C59"/>
          </a:solidFill>
          <a:ln/>
        </p:spPr>
      </p:sp>
      <p:pic>
        <p:nvPicPr>
          <p:cNvPr id="22" name="Image 0" descr="/home/claude/insite/00_PLAN/map_embed.png">    </p:cNvPr>
          <p:cNvPicPr>
            <a:picLocks noChangeAspect="1"/>
          </p:cNvPicPr>
          <p:nvPr/>
        </p:nvPicPr>
        <p:blipFill>
          <a:blip r:embed="rId1"/>
          <a:stretch>
            <a:fillRect/>
          </a:stretch>
        </p:blipFill>
        <p:spPr>
          <a:xfrm>
            <a:off x="685800" y="1143000"/>
            <a:ext cx="10817352" cy="4983480"/>
          </a:xfrm>
          <a:prstGeom prst="rect">
            <a:avLst/>
          </a:prstGeom>
        </p:spPr>
      </p:pic>
      <p:sp>
        <p:nvSpPr>
          <p:cNvPr id="23" name="Text 20"/>
          <p:cNvSpPr/>
          <p:nvPr/>
        </p:nvSpPr>
        <p:spPr>
          <a:xfrm>
            <a:off x="685800" y="6199632"/>
            <a:ext cx="10789920" cy="274320"/>
          </a:xfrm>
          <a:prstGeom prst="rect">
            <a:avLst/>
          </a:prstGeom>
          <a:noFill/>
          <a:ln/>
        </p:spPr>
        <p:txBody>
          <a:bodyPr wrap="square" rtlCol="0" anchor="ctr"/>
          <a:lstStyle/>
          <a:p>
            <a:pPr indent="0" marL="0">
              <a:buNone/>
            </a:pPr>
            <a:r>
              <a:rPr lang="en-US" sz="950" dirty="0">
                <a:solidFill>
                  <a:srgbClr val="6B7280"/>
                </a:solidFill>
                <a:latin typeface="Arial" pitchFamily="34" charset="0"/>
                <a:ea typeface="Arial" pitchFamily="34" charset="-122"/>
                <a:cs typeface="Arial" pitchFamily="34" charset="-120"/>
              </a:rPr>
              <a:t>Numbered flows 1-8: application, appraisal, annexation package, approval, funding, fee payment, annual levy, debt service.</a:t>
            </a:r>
            <a:endParaRPr lang="en-US" sz="950" dirty="0"/>
          </a:p>
        </p:txBody>
      </p:sp>
      <p:sp>
        <p:nvSpPr>
          <p:cNvPr id="24" name="Text 21"/>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25" name="Text 22"/>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ANNEXATION MODEL</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Form once. Annex forever. Zones stay separate.</a:t>
            </a:r>
            <a:endParaRPr lang="en-US" sz="2200" dirty="0"/>
          </a:p>
        </p:txBody>
      </p:sp>
      <p:sp>
        <p:nvSpPr>
          <p:cNvPr id="21" name="Shape 19"/>
          <p:cNvSpPr/>
          <p:nvPr/>
        </p:nvSpPr>
        <p:spPr>
          <a:xfrm>
            <a:off x="0" y="932688"/>
            <a:ext cx="12188952" cy="41148"/>
          </a:xfrm>
          <a:prstGeom prst="rect">
            <a:avLst/>
          </a:prstGeom>
          <a:solidFill>
            <a:srgbClr val="3E7C59"/>
          </a:solidFill>
          <a:ln/>
        </p:spPr>
      </p:sp>
      <p:sp>
        <p:nvSpPr>
          <p:cNvPr id="22" name="Shape 20"/>
          <p:cNvSpPr/>
          <p:nvPr/>
        </p:nvSpPr>
        <p:spPr>
          <a:xfrm>
            <a:off x="640080" y="1417320"/>
            <a:ext cx="457200" cy="457200"/>
          </a:xfrm>
          <a:prstGeom prst="rect">
            <a:avLst/>
          </a:prstGeom>
          <a:solidFill>
            <a:srgbClr val="3E7C59"/>
          </a:solidFill>
          <a:ln w="15875">
            <a:solidFill>
              <a:srgbClr val="3E7C59"/>
            </a:solidFill>
            <a:prstDash val="solid"/>
          </a:ln>
        </p:spPr>
      </p:sp>
      <p:sp>
        <p:nvSpPr>
          <p:cNvPr id="23" name="Shape 21"/>
          <p:cNvSpPr/>
          <p:nvPr/>
        </p:nvSpPr>
        <p:spPr>
          <a:xfrm>
            <a:off x="1207008" y="1417320"/>
            <a:ext cx="457200" cy="457200"/>
          </a:xfrm>
          <a:prstGeom prst="rect">
            <a:avLst/>
          </a:prstGeom>
          <a:solidFill>
            <a:srgbClr val="3E7C59"/>
          </a:solidFill>
          <a:ln w="15875">
            <a:solidFill>
              <a:srgbClr val="3E7C59"/>
            </a:solidFill>
            <a:prstDash val="solid"/>
          </a:ln>
        </p:spPr>
      </p:sp>
      <p:sp>
        <p:nvSpPr>
          <p:cNvPr id="24" name="Shape 22"/>
          <p:cNvSpPr/>
          <p:nvPr/>
        </p:nvSpPr>
        <p:spPr>
          <a:xfrm>
            <a:off x="1773936" y="1417320"/>
            <a:ext cx="457200" cy="457200"/>
          </a:xfrm>
          <a:prstGeom prst="rect">
            <a:avLst/>
          </a:prstGeom>
          <a:solidFill>
            <a:srgbClr val="3E7C59"/>
          </a:solidFill>
          <a:ln w="15875">
            <a:solidFill>
              <a:srgbClr val="3E7C59"/>
            </a:solidFill>
            <a:prstDash val="solid"/>
          </a:ln>
        </p:spPr>
      </p:sp>
      <p:sp>
        <p:nvSpPr>
          <p:cNvPr id="25" name="Shape 23"/>
          <p:cNvSpPr/>
          <p:nvPr/>
        </p:nvSpPr>
        <p:spPr>
          <a:xfrm>
            <a:off x="2340864" y="1417320"/>
            <a:ext cx="457200" cy="457200"/>
          </a:xfrm>
          <a:prstGeom prst="rect">
            <a:avLst/>
          </a:prstGeom>
          <a:solidFill>
            <a:srgbClr val="F5F7FA"/>
          </a:solidFill>
          <a:ln w="15875">
            <a:solidFill>
              <a:srgbClr val="D3DAE3"/>
            </a:solidFill>
            <a:prstDash val="solid"/>
          </a:ln>
        </p:spPr>
      </p:sp>
      <p:sp>
        <p:nvSpPr>
          <p:cNvPr id="26" name="Shape 24"/>
          <p:cNvSpPr/>
          <p:nvPr/>
        </p:nvSpPr>
        <p:spPr>
          <a:xfrm>
            <a:off x="2907792" y="1417320"/>
            <a:ext cx="457200" cy="457200"/>
          </a:xfrm>
          <a:prstGeom prst="rect">
            <a:avLst/>
          </a:prstGeom>
          <a:solidFill>
            <a:srgbClr val="F5F7FA"/>
          </a:solidFill>
          <a:ln w="15875">
            <a:solidFill>
              <a:srgbClr val="D3DAE3"/>
            </a:solidFill>
            <a:prstDash val="solid"/>
          </a:ln>
        </p:spPr>
      </p:sp>
      <p:sp>
        <p:nvSpPr>
          <p:cNvPr id="27" name="Shape 25"/>
          <p:cNvSpPr/>
          <p:nvPr/>
        </p:nvSpPr>
        <p:spPr>
          <a:xfrm>
            <a:off x="3474720" y="1417320"/>
            <a:ext cx="457200" cy="457200"/>
          </a:xfrm>
          <a:prstGeom prst="rect">
            <a:avLst/>
          </a:prstGeom>
          <a:solidFill>
            <a:srgbClr val="F5F7FA"/>
          </a:solidFill>
          <a:ln w="15875">
            <a:solidFill>
              <a:srgbClr val="D3DAE3"/>
            </a:solidFill>
            <a:prstDash val="solid"/>
          </a:ln>
        </p:spPr>
      </p:sp>
      <p:sp>
        <p:nvSpPr>
          <p:cNvPr id="28" name="Shape 26"/>
          <p:cNvSpPr/>
          <p:nvPr/>
        </p:nvSpPr>
        <p:spPr>
          <a:xfrm>
            <a:off x="4041648" y="1417320"/>
            <a:ext cx="457200" cy="457200"/>
          </a:xfrm>
          <a:prstGeom prst="rect">
            <a:avLst/>
          </a:prstGeom>
          <a:solidFill>
            <a:srgbClr val="F5F7FA"/>
          </a:solidFill>
          <a:ln w="15875">
            <a:solidFill>
              <a:srgbClr val="D3DAE3"/>
            </a:solidFill>
            <a:prstDash val="solid"/>
          </a:ln>
        </p:spPr>
      </p:sp>
      <p:sp>
        <p:nvSpPr>
          <p:cNvPr id="29" name="Shape 27"/>
          <p:cNvSpPr/>
          <p:nvPr/>
        </p:nvSpPr>
        <p:spPr>
          <a:xfrm>
            <a:off x="4608576" y="1417320"/>
            <a:ext cx="457200" cy="457200"/>
          </a:xfrm>
          <a:prstGeom prst="rect">
            <a:avLst/>
          </a:prstGeom>
          <a:solidFill>
            <a:srgbClr val="F5F7FA"/>
          </a:solidFill>
          <a:ln w="15875">
            <a:solidFill>
              <a:srgbClr val="D3DAE3"/>
            </a:solidFill>
            <a:prstDash val="solid"/>
          </a:ln>
        </p:spPr>
      </p:sp>
      <p:sp>
        <p:nvSpPr>
          <p:cNvPr id="30" name="Text 28"/>
          <p:cNvSpPr/>
          <p:nvPr/>
        </p:nvSpPr>
        <p:spPr>
          <a:xfrm>
            <a:off x="640080" y="1993392"/>
            <a:ext cx="10881360" cy="32004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Projects annex into the existing district over time; formation cost is paid once per jurisdiction.</a:t>
            </a:r>
            <a:endParaRPr lang="en-US" sz="1100" dirty="0"/>
          </a:p>
        </p:txBody>
      </p:sp>
      <p:sp>
        <p:nvSpPr>
          <p:cNvPr id="31" name="Text 29"/>
          <p:cNvSpPr/>
          <p:nvPr/>
        </p:nvSpPr>
        <p:spPr>
          <a:xfrm>
            <a:off x="640080" y="2514600"/>
            <a:ext cx="10972800" cy="3291840"/>
          </a:xfrm>
          <a:prstGeom prst="rect">
            <a:avLst/>
          </a:prstGeom>
          <a:noFill/>
          <a:ln/>
        </p:spPr>
        <p:txBody>
          <a:bodyPr wrap="square" rtlCol="0" anchor="t"/>
          <a:lstStyle/>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A Master District is formed with a recorded Future Annexation Area on the boundary map</a:t>
            </a:r>
            <a:endParaRPr lang="en-US" sz="1450" dirty="0"/>
          </a:p>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Each project joins by the landowner's one-page Unanimous Approval, acting as the election; no hearing, no ballot</a:t>
            </a:r>
            <a:endParaRPr lang="en-US" sz="1450" dirty="0"/>
          </a:p>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Each project becomes its own tax zone with its own maximum tax table and its own note; a zone's taxes repay only that zone's debt (53339.3(d))</a:t>
            </a:r>
            <a:endParaRPr lang="en-US" sz="1450" dirty="0"/>
          </a:p>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The pattern operates today in Escondido, Chula Vista, and Roseville; INSITE standardizes and administers it for the small end</a:t>
            </a:r>
            <a:endParaRPr lang="en-US" sz="1450" dirty="0"/>
          </a:p>
        </p:txBody>
      </p:sp>
      <p:sp>
        <p:nvSpPr>
          <p:cNvPr id="32" name="Text 30"/>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33" name="Text 31"/>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ROLES</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 issuer owns every approval. INSITE does the work.</a:t>
            </a:r>
            <a:endParaRPr lang="en-US" sz="2200" dirty="0"/>
          </a:p>
        </p:txBody>
      </p:sp>
      <p:sp>
        <p:nvSpPr>
          <p:cNvPr id="21" name="Shape 19"/>
          <p:cNvSpPr/>
          <p:nvPr/>
        </p:nvSpPr>
        <p:spPr>
          <a:xfrm>
            <a:off x="0" y="932688"/>
            <a:ext cx="12188952" cy="41148"/>
          </a:xfrm>
          <a:prstGeom prst="rect">
            <a:avLst/>
          </a:prstGeom>
          <a:solidFill>
            <a:srgbClr val="3E7C59"/>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291840"/>
                <a:gridCol w="7772400"/>
              </a:tblGrid>
              <a:tr h="475488">
                <a:tc>
                  <a:txBody>
                    <a:bodyPr/>
                    <a:lstStyle/>
                    <a:p>
                      <a:pPr indent="0" marL="0">
                        <a:buNone/>
                      </a:pPr>
                      <a:r>
                        <a:rPr lang="en-US" sz="1150" b="1" dirty="0">
                          <a:solidFill>
                            <a:srgbClr val="FFFFFF"/>
                          </a:solidFill>
                          <a:latin typeface="Arial" pitchFamily="34" charset="0"/>
                          <a:ea typeface="Arial" pitchFamily="34" charset="-122"/>
                          <a:cs typeface="Arial" pitchFamily="34" charset="-120"/>
                        </a:rPr>
                        <a:t>Party</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153A5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Role</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153A5B"/>
                    </a:solidFill>
                  </a:tcPr>
                </a:tc>
              </a:tr>
              <a:tr h="475488">
                <a:tc>
                  <a:txBody>
                    <a:bodyPr/>
                    <a:lstStyle/>
                    <a:p>
                      <a:pPr indent="0" marL="0">
                        <a:buNone/>
                      </a:pPr>
                      <a:r>
                        <a:rPr lang="en-US" sz="1150" dirty="0">
                          <a:solidFill>
                            <a:srgbClr val="26303A"/>
                          </a:solidFill>
                          <a:latin typeface="Arial" pitchFamily="34" charset="0"/>
                          <a:ea typeface="Arial" pitchFamily="34" charset="-122"/>
                          <a:cs typeface="Arial" pitchFamily="34" charset="-120"/>
                        </a:rPr>
                        <a:t>Public issuer (city, county, or joint powers authority)</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50" dirty="0">
                          <a:solidFill>
                            <a:srgbClr val="26303A"/>
                          </a:solidFill>
                          <a:latin typeface="Arial" pitchFamily="34" charset="0"/>
                          <a:ea typeface="Arial" pitchFamily="34" charset="-122"/>
                          <a:cs typeface="Arial" pitchFamily="34" charset="-120"/>
                        </a:rPr>
                        <a:t>Owns the Master District, adopts policies, approves each annexation, authorizes the special tax and notes</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r>
              <a:tr h="475488">
                <a:tc>
                  <a:txBody>
                    <a:bodyPr/>
                    <a:lstStyle/>
                    <a:p>
                      <a:pPr indent="0" marL="0">
                        <a:buNone/>
                      </a:pPr>
                      <a:r>
                        <a:rPr lang="en-US" sz="1150" dirty="0">
                          <a:solidFill>
                            <a:srgbClr val="26303A"/>
                          </a:solidFill>
                          <a:latin typeface="Arial" pitchFamily="34" charset="0"/>
                          <a:ea typeface="Arial" pitchFamily="34" charset="-122"/>
                          <a:cs typeface="Arial" pitchFamily="34" charset="-120"/>
                        </a:rPr>
                        <a:t>INSITE (HGF Management Company)</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50" dirty="0">
                          <a:solidFill>
                            <a:srgbClr val="26303A"/>
                          </a:solidFill>
                          <a:latin typeface="Arial" pitchFamily="34" charset="0"/>
                          <a:ea typeface="Arial" pitchFamily="34" charset="-122"/>
                          <a:cs typeface="Arial" pitchFamily="34" charset="-120"/>
                        </a:rPr>
                        <a:t>Program administrator: intake, underwriting, appraisal management, documents and zone exhibits, funding coordination, annual administration and reporting</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r>
              <a:tr h="475488">
                <a:tc>
                  <a:txBody>
                    <a:bodyPr/>
                    <a:lstStyle/>
                    <a:p>
                      <a:pPr indent="0" marL="0">
                        <a:buNone/>
                      </a:pPr>
                      <a:r>
                        <a:rPr lang="en-US" sz="1150" dirty="0">
                          <a:solidFill>
                            <a:srgbClr val="26303A"/>
                          </a:solidFill>
                          <a:latin typeface="Arial" pitchFamily="34" charset="0"/>
                          <a:ea typeface="Arial" pitchFamily="34" charset="-122"/>
                          <a:cs typeface="Arial" pitchFamily="34" charset="-120"/>
                        </a:rPr>
                        <a:t>Independent MAI appraiser panel</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50" dirty="0">
                          <a:solidFill>
                            <a:srgbClr val="26303A"/>
                          </a:solidFill>
                          <a:latin typeface="Arial" pitchFamily="34" charset="0"/>
                          <a:ea typeface="Arial" pitchFamily="34" charset="-122"/>
                          <a:cs typeface="Arial" pitchFamily="34" charset="-120"/>
                        </a:rPr>
                        <a:t>Values every project to state (CDIAC) standards; supports the value finding; never an INSITE employee</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r>
              <a:tr h="475488">
                <a:tc>
                  <a:txBody>
                    <a:bodyPr/>
                    <a:lstStyle/>
                    <a:p>
                      <a:pPr indent="0" marL="0">
                        <a:buNone/>
                      </a:pPr>
                      <a:r>
                        <a:rPr lang="en-US" sz="1150" dirty="0">
                          <a:solidFill>
                            <a:srgbClr val="26303A"/>
                          </a:solidFill>
                          <a:latin typeface="Arial" pitchFamily="34" charset="0"/>
                          <a:ea typeface="Arial" pitchFamily="34" charset="-122"/>
                          <a:cs typeface="Arial" pitchFamily="34" charset="-120"/>
                        </a:rPr>
                        <a:t>Bond counsel, special tax consultant, tax roll administrator</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50" dirty="0">
                          <a:solidFill>
                            <a:srgbClr val="26303A"/>
                          </a:solidFill>
                          <a:latin typeface="Arial" pitchFamily="34" charset="0"/>
                          <a:ea typeface="Arial" pitchFamily="34" charset="-122"/>
                          <a:cs typeface="Arial" pitchFamily="34" charset="-120"/>
                        </a:rPr>
                        <a:t>Selection in progress; opinions, tax formula template, annual levy files. Contracted first per the sourcing plan</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r>
              <a:tr h="475488">
                <a:tc>
                  <a:txBody>
                    <a:bodyPr/>
                    <a:lstStyle/>
                    <a:p>
                      <a:pPr indent="0" marL="0">
                        <a:buNone/>
                      </a:pPr>
                      <a:r>
                        <a:rPr lang="en-US" sz="1150" dirty="0">
                          <a:solidFill>
                            <a:srgbClr val="26303A"/>
                          </a:solidFill>
                          <a:latin typeface="Arial" pitchFamily="34" charset="0"/>
                          <a:ea typeface="Arial" pitchFamily="34" charset="-122"/>
                          <a:cs typeface="Arial" pitchFamily="34" charset="-120"/>
                        </a:rPr>
                        <a:t>Capital partner</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50" dirty="0">
                          <a:solidFill>
                            <a:srgbClr val="26303A"/>
                          </a:solidFill>
                          <a:latin typeface="Arial" pitchFamily="34" charset="0"/>
                          <a:ea typeface="Arial" pitchFamily="34" charset="-122"/>
                          <a:cs typeface="Arial" pitchFamily="34" charset="-120"/>
                        </a:rPr>
                        <a:t>Purchases each privately placed, tax-secured note</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r>
              <a:tr h="475488">
                <a:tc>
                  <a:txBody>
                    <a:bodyPr/>
                    <a:lstStyle/>
                    <a:p>
                      <a:pPr indent="0" marL="0">
                        <a:buNone/>
                      </a:pPr>
                      <a:r>
                        <a:rPr lang="en-US" sz="1150" dirty="0">
                          <a:solidFill>
                            <a:srgbClr val="26303A"/>
                          </a:solidFill>
                          <a:latin typeface="Arial" pitchFamily="34" charset="0"/>
                          <a:ea typeface="Arial" pitchFamily="34" charset="-122"/>
                          <a:cs typeface="Arial" pitchFamily="34" charset="-120"/>
                        </a:rPr>
                        <a:t>County tax collector and property owners</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50" dirty="0">
                          <a:solidFill>
                            <a:srgbClr val="26303A"/>
                          </a:solidFill>
                          <a:latin typeface="Arial" pitchFamily="34" charset="0"/>
                          <a:ea typeface="Arial" pitchFamily="34" charset="-122"/>
                          <a:cs typeface="Arial" pitchFamily="34" charset="-120"/>
                        </a:rPr>
                        <a:t>Bills with the property tax; owners pay the disclosed, prepayable special tax over the note term</a:t>
                      </a:r>
                      <a:endParaRPr lang="en-US" sz="115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r>
            </a:tbl>
          </a:graphicData>
        </a:graphic>
      </p:graphicFrame>
      <p:sp>
        <p:nvSpPr>
          <p:cNvPr id="23" name="Text 20"/>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24" name="Text 21"/>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UNDERWRITING</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Stricter than the statute, by policy</a:t>
            </a:r>
            <a:endParaRPr lang="en-US" sz="2200" dirty="0"/>
          </a:p>
        </p:txBody>
      </p:sp>
      <p:sp>
        <p:nvSpPr>
          <p:cNvPr id="21" name="Shape 19"/>
          <p:cNvSpPr/>
          <p:nvPr/>
        </p:nvSpPr>
        <p:spPr>
          <a:xfrm>
            <a:off x="0" y="932688"/>
            <a:ext cx="12188952" cy="41148"/>
          </a:xfrm>
          <a:prstGeom prst="rect">
            <a:avLst/>
          </a:prstGeom>
          <a:solidFill>
            <a:srgbClr val="3E7C59"/>
          </a:solidFill>
          <a:ln/>
        </p:spPr>
      </p:sp>
      <p:sp>
        <p:nvSpPr>
          <p:cNvPr id="22" name="Text 20"/>
          <p:cNvSpPr/>
          <p:nvPr/>
        </p:nvSpPr>
        <p:spPr>
          <a:xfrm>
            <a:off x="548640" y="1234440"/>
            <a:ext cx="3657600" cy="320040"/>
          </a:xfrm>
          <a:prstGeom prst="rect">
            <a:avLst/>
          </a:prstGeom>
          <a:noFill/>
          <a:ln/>
        </p:spPr>
        <p:txBody>
          <a:bodyPr wrap="square" rtlCol="0" anchor="ctr"/>
          <a:lstStyle/>
          <a:p>
            <a:pPr indent="0" marL="0">
              <a:buNone/>
            </a:pPr>
            <a:r>
              <a:rPr lang="en-US" sz="1300" b="1" dirty="0">
                <a:solidFill>
                  <a:srgbClr val="153A5B"/>
                </a:solidFill>
                <a:latin typeface="Arial" pitchFamily="34" charset="0"/>
                <a:ea typeface="Arial" pitchFamily="34" charset="-122"/>
                <a:cs typeface="Arial" pitchFamily="34" charset="-120"/>
              </a:rPr>
              <a:t>Value-to-lien</a:t>
            </a:r>
            <a:endParaRPr lang="en-US" sz="1300" dirty="0"/>
          </a:p>
        </p:txBody>
      </p:sp>
      <p:sp>
        <p:nvSpPr>
          <p:cNvPr id="23" name="Shape 21"/>
          <p:cNvSpPr/>
          <p:nvPr/>
        </p:nvSpPr>
        <p:spPr>
          <a:xfrm>
            <a:off x="548640" y="1645920"/>
            <a:ext cx="2743200" cy="502920"/>
          </a:xfrm>
          <a:prstGeom prst="rect">
            <a:avLst/>
          </a:prstGeom>
          <a:solidFill>
            <a:srgbClr val="B9C9D8"/>
          </a:solidFill>
          <a:ln/>
        </p:spPr>
      </p:sp>
      <p:sp>
        <p:nvSpPr>
          <p:cNvPr id="24" name="Text 22"/>
          <p:cNvSpPr/>
          <p:nvPr/>
        </p:nvSpPr>
        <p:spPr>
          <a:xfrm>
            <a:off x="640080" y="1709928"/>
            <a:ext cx="3108960" cy="365760"/>
          </a:xfrm>
          <a:prstGeom prst="rect">
            <a:avLst/>
          </a:prstGeom>
          <a:noFill/>
          <a:ln/>
        </p:spPr>
        <p:txBody>
          <a:bodyPr wrap="square" rtlCol="0" anchor="ctr"/>
          <a:lstStyle/>
          <a:p>
            <a:pPr indent="0" marL="0">
              <a:buNone/>
            </a:pPr>
            <a:r>
              <a:rPr lang="en-US" sz="1200" b="1" dirty="0">
                <a:solidFill>
                  <a:srgbClr val="153A5B"/>
                </a:solidFill>
                <a:latin typeface="Arial" pitchFamily="34" charset="0"/>
                <a:ea typeface="Arial" pitchFamily="34" charset="-122"/>
                <a:cs typeface="Arial" pitchFamily="34" charset="-120"/>
              </a:rPr>
              <a:t>3 : 1  statute (53345.8)</a:t>
            </a:r>
            <a:endParaRPr lang="en-US" sz="1200" dirty="0"/>
          </a:p>
        </p:txBody>
      </p:sp>
      <p:sp>
        <p:nvSpPr>
          <p:cNvPr id="25" name="Shape 23"/>
          <p:cNvSpPr/>
          <p:nvPr/>
        </p:nvSpPr>
        <p:spPr>
          <a:xfrm>
            <a:off x="548640" y="2286000"/>
            <a:ext cx="3657600" cy="502920"/>
          </a:xfrm>
          <a:prstGeom prst="rect">
            <a:avLst/>
          </a:prstGeom>
          <a:solidFill>
            <a:srgbClr val="3E7C59"/>
          </a:solidFill>
          <a:ln/>
        </p:spPr>
      </p:sp>
      <p:sp>
        <p:nvSpPr>
          <p:cNvPr id="26" name="Text 24"/>
          <p:cNvSpPr/>
          <p:nvPr/>
        </p:nvSpPr>
        <p:spPr>
          <a:xfrm>
            <a:off x="640080" y="2350008"/>
            <a:ext cx="420624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4 : 1  INSITE policy (CSCDA precedent)</a:t>
            </a:r>
            <a:endParaRPr lang="en-US" sz="1200" dirty="0"/>
          </a:p>
        </p:txBody>
      </p:sp>
      <p:sp>
        <p:nvSpPr>
          <p:cNvPr id="27" name="Text 25"/>
          <p:cNvSpPr/>
          <p:nvPr/>
        </p:nvSpPr>
        <p:spPr>
          <a:xfrm>
            <a:off x="4572000" y="1234440"/>
            <a:ext cx="7040880" cy="4480560"/>
          </a:xfrm>
          <a:prstGeom prst="rect">
            <a:avLst/>
          </a:prstGeom>
          <a:noFill/>
          <a:ln/>
        </p:spPr>
        <p:txBody>
          <a:bodyPr wrap="square" rtlCol="0" anchor="t"/>
          <a:lstStyle/>
          <a:p>
            <a:pPr marL="152400" indent="-152400">
              <a:spcAft>
                <a:spcPts val="800"/>
              </a:spcAft>
              <a:buSzPct val="100000"/>
              <a:buChar char="•"/>
            </a:pPr>
            <a:r>
              <a:rPr lang="en-US" sz="1350" dirty="0">
                <a:solidFill>
                  <a:srgbClr val="26303A"/>
                </a:solidFill>
                <a:latin typeface="Arial" pitchFamily="34" charset="0"/>
                <a:ea typeface="Arial" pitchFamily="34" charset="-122"/>
                <a:cs typeface="Arial" pitchFamily="34" charset="-120"/>
              </a:rPr>
              <a:t>Appraisals by independent MAI professionals under the State Treasurer (CDIAC) standards the statute requires</a:t>
            </a:r>
            <a:endParaRPr lang="en-US" sz="1350" dirty="0"/>
          </a:p>
          <a:p>
            <a:pPr marL="152400" indent="-152400">
              <a:spcAft>
                <a:spcPts val="800"/>
              </a:spcAft>
              <a:buSzPct val="100000"/>
              <a:buChar char="•"/>
            </a:pPr>
            <a:r>
              <a:rPr lang="en-US" sz="1350" dirty="0">
                <a:solidFill>
                  <a:srgbClr val="26303A"/>
                </a:solidFill>
                <a:latin typeface="Arial" pitchFamily="34" charset="0"/>
                <a:ea typeface="Arial" pitchFamily="34" charset="-122"/>
                <a:cs typeface="Arial" pitchFamily="34" charset="-120"/>
              </a:rPr>
              <a:t>Total tax burden benchmarked at 2 percent of expected home value, per the adopted policy of the state's largest issuer; each city's own cap confirmed before sizing</a:t>
            </a:r>
            <a:endParaRPr lang="en-US" sz="1350" dirty="0"/>
          </a:p>
          <a:p>
            <a:pPr marL="152400" indent="-152400">
              <a:spcAft>
                <a:spcPts val="800"/>
              </a:spcAft>
              <a:buSzPct val="100000"/>
              <a:buChar char="•"/>
            </a:pPr>
            <a:r>
              <a:rPr lang="en-US" sz="1350" dirty="0">
                <a:solidFill>
                  <a:srgbClr val="26303A"/>
                </a:solidFill>
                <a:latin typeface="Arial" pitchFamily="34" charset="0"/>
                <a:ea typeface="Arial" pitchFamily="34" charset="-122"/>
                <a:cs typeface="Arial" pitchFamily="34" charset="-120"/>
              </a:rPr>
              <a:t>Illustrative sizing: 10 lots financing $250,000 over 30 years near 6 percent works out to roughly $2,300 per home per year, including administration and a 10 percent coverage cushion (arithmetic, not a quote)</a:t>
            </a:r>
            <a:endParaRPr lang="en-US" sz="1350" dirty="0"/>
          </a:p>
          <a:p>
            <a:pPr marL="152400" indent="-152400">
              <a:spcAft>
                <a:spcPts val="800"/>
              </a:spcAft>
              <a:buSzPct val="100000"/>
              <a:buChar char="•"/>
            </a:pPr>
            <a:r>
              <a:rPr lang="en-US" sz="1350" dirty="0">
                <a:solidFill>
                  <a:srgbClr val="26303A"/>
                </a:solidFill>
                <a:latin typeface="Arial" pitchFamily="34" charset="0"/>
                <a:ea typeface="Arial" pitchFamily="34" charset="-122"/>
                <a:cs typeface="Arial" pitchFamily="34" charset="-120"/>
              </a:rPr>
              <a:t>Inputs arrive on the standard data package (INS-201); appraisal scope per the program manual (INS-101)</a:t>
            </a:r>
            <a:endParaRPr lang="en-US" sz="1350" dirty="0"/>
          </a:p>
        </p:txBody>
      </p:sp>
      <p:sp>
        <p:nvSpPr>
          <p:cNvPr id="28" name="Text 26"/>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29" name="Text 27"/>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THE MARKET, ARITHMETIC SHOWN</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62,372 units in the target segment last year</a:t>
            </a:r>
            <a:endParaRPr lang="en-US" sz="2200" dirty="0"/>
          </a:p>
        </p:txBody>
      </p:sp>
      <p:sp>
        <p:nvSpPr>
          <p:cNvPr id="21" name="Shape 19"/>
          <p:cNvSpPr/>
          <p:nvPr/>
        </p:nvSpPr>
        <p:spPr>
          <a:xfrm>
            <a:off x="0" y="932688"/>
            <a:ext cx="12188952" cy="41148"/>
          </a:xfrm>
          <a:prstGeom prst="rect">
            <a:avLst/>
          </a:prstGeom>
          <a:solidFill>
            <a:srgbClr val="3E7C59"/>
          </a:solidFill>
          <a:ln/>
        </p:spPr>
      </p:sp>
      <p:graphicFrame>
        <p:nvGraphicFramePr>
          <p:cNvPr id="22" name="Chart 0" descr=""/>
          <p:cNvGraphicFramePr/>
          <p:nvPr/>
        </p:nvGraphicFramePr>
        <p:xfrm>
          <a:off x="548640" y="118872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23" name="Text 20"/>
          <p:cNvSpPr/>
          <p:nvPr/>
        </p:nvSpPr>
        <p:spPr>
          <a:xfrm>
            <a:off x="7726680" y="1280160"/>
            <a:ext cx="3931920" cy="4572000"/>
          </a:xfrm>
          <a:prstGeom prst="rect">
            <a:avLst/>
          </a:prstGeom>
          <a:noFill/>
          <a:ln/>
        </p:spPr>
        <p:txBody>
          <a:bodyPr wrap="square" rtlCol="0" anchor="t"/>
          <a:lstStyle/>
          <a:p>
            <a:pPr marL="152400" indent="-152400">
              <a:spcAft>
                <a:spcPts val="800"/>
              </a:spcAft>
              <a:buSzPct val="100000"/>
              <a:buChar char="•"/>
            </a:pPr>
            <a:r>
              <a:rPr lang="en-US" sz="1250" dirty="0">
                <a:solidFill>
                  <a:srgbClr val="26303A"/>
                </a:solidFill>
                <a:latin typeface="Arial" pitchFamily="34" charset="0"/>
                <a:ea typeface="Arial" pitchFamily="34" charset="-122"/>
                <a:cs typeface="Arial" pitchFamily="34" charset="-120"/>
              </a:rPr>
              <a:t>California permitted 103,856 housing units in 2025; 62,372 (60.1 percent) were in 1-to-4-unit structures. U.S. Census primary files, recomputed</a:t>
            </a:r>
            <a:endParaRPr lang="en-US" sz="1250" dirty="0"/>
          </a:p>
          <a:p>
            <a:pPr marL="152400" indent="-152400">
              <a:spcAft>
                <a:spcPts val="800"/>
              </a:spcAft>
              <a:buSzPct val="100000"/>
              <a:buChar char="•"/>
            </a:pPr>
            <a:r>
              <a:rPr lang="en-US" sz="1250" dirty="0">
                <a:solidFill>
                  <a:srgbClr val="26303A"/>
                </a:solidFill>
                <a:latin typeface="Arial" pitchFamily="34" charset="0"/>
                <a:ea typeface="Arial" pitchFamily="34" charset="-122"/>
                <a:cs typeface="Arial" pitchFamily="34" charset="-120"/>
              </a:rPr>
              <a:t>At an assumed $25,000 of financeable public fees per unit, the measured segment is roughly $1.56 billion per year of fee obligations. The assumption is stated wherever the figure appears</a:t>
            </a:r>
            <a:endParaRPr lang="en-US" sz="1250" dirty="0"/>
          </a:p>
          <a:p>
            <a:pPr marL="152400" indent="-152400">
              <a:spcAft>
                <a:spcPts val="800"/>
              </a:spcAft>
              <a:buSzPct val="100000"/>
              <a:buChar char="•"/>
            </a:pPr>
            <a:r>
              <a:rPr lang="en-US" sz="1250" dirty="0">
                <a:solidFill>
                  <a:srgbClr val="26303A"/>
                </a:solidFill>
                <a:latin typeface="Arial" pitchFamily="34" charset="0"/>
                <a:ea typeface="Arial" pitchFamily="34" charset="-122"/>
                <a:cs typeface="Arial" pitchFamily="34" charset="-120"/>
              </a:rPr>
              <a:t>Projects of 5 to 50 units are excluded because public data cannot separate them from large complexes: the estimate is deliberately conservative</a:t>
            </a:r>
            <a:endParaRPr lang="en-US" sz="1250" dirty="0"/>
          </a:p>
        </p:txBody>
      </p:sp>
      <p:sp>
        <p:nvSpPr>
          <p:cNvPr id="24" name="Text 21"/>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25" name="Text 22"/>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COMPETITIVE LANDSCAPE</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Not the first. Built for a different customer.</a:t>
            </a:r>
            <a:endParaRPr lang="en-US" sz="2200" dirty="0"/>
          </a:p>
        </p:txBody>
      </p:sp>
      <p:sp>
        <p:nvSpPr>
          <p:cNvPr id="21" name="Shape 19"/>
          <p:cNvSpPr/>
          <p:nvPr/>
        </p:nvSpPr>
        <p:spPr>
          <a:xfrm>
            <a:off x="0" y="932688"/>
            <a:ext cx="12188952" cy="41148"/>
          </a:xfrm>
          <a:prstGeom prst="rect">
            <a:avLst/>
          </a:prstGeom>
          <a:solidFill>
            <a:srgbClr val="3E7C59"/>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554480"/>
                <a:gridCol w="3108960"/>
                <a:gridCol w="3383280"/>
                <a:gridCol w="3017520"/>
              </a:tblGrid>
              <a:tr h="0">
                <a:tc>
                  <a:txBody>
                    <a:bodyPr/>
                    <a:lstStyle/>
                    <a:p>
                      <a:pPr indent="0" marL="0">
                        <a:buNone/>
                      </a:pP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153A5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SCIP (CSCDA)</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153A5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BOLD (CMFA)</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153A5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INSITE (proposed)</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solidFill>
                      <a:srgbClr val="3E7C59"/>
                    </a:solidFill>
                  </a:tcPr>
                </a:tc>
              </a:tr>
              <a:tr h="0">
                <a:tc>
                  <a:txBody>
                    <a:bodyPr/>
                    <a:lstStyle/>
                    <a:p>
                      <a:pPr indent="0" marL="0">
                        <a:buNone/>
                      </a:pPr>
                      <a:r>
                        <a:rPr lang="en-US" sz="1100" dirty="0">
                          <a:solidFill>
                            <a:srgbClr val="26303A"/>
                          </a:solidFill>
                          <a:latin typeface="Arial" pitchFamily="34" charset="0"/>
                          <a:ea typeface="Arial" pitchFamily="34" charset="-122"/>
                          <a:cs typeface="Arial" pitchFamily="34" charset="-120"/>
                        </a:rPr>
                        <a:t>Mechanism</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1913/1915 assessments, district option</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Mello-Roos districts</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Mello-Roos master district + annexation zones</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r>
              <a:tr h="0">
                <a:tc>
                  <a:txBody>
                    <a:bodyPr/>
                    <a:lstStyle/>
                    <a:p>
                      <a:pPr indent="0" marL="0">
                        <a:buNone/>
                      </a:pPr>
                      <a:r>
                        <a:rPr lang="en-US" sz="1100" dirty="0">
                          <a:solidFill>
                            <a:srgbClr val="26303A"/>
                          </a:solidFill>
                          <a:latin typeface="Arial" pitchFamily="34" charset="0"/>
                          <a:ea typeface="Arial" pitchFamily="34" charset="-122"/>
                          <a:cs typeface="Arial" pitchFamily="34" charset="-120"/>
                        </a:rPr>
                        <a:t>Published scale</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Typically from $500,000 in fees; pooled sales about 3x per year</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About $550 million, 65+ projects, 12,000+ units since 2020 (about 185 units per project)</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2 to 50 lots; one small note per project, on the project's schedule</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r>
              <a:tr h="0">
                <a:tc>
                  <a:txBody>
                    <a:bodyPr/>
                    <a:lstStyle/>
                    <a:p>
                      <a:pPr indent="0" marL="0">
                        <a:buNone/>
                      </a:pPr>
                      <a:r>
                        <a:rPr lang="en-US" sz="1100" dirty="0">
                          <a:solidFill>
                            <a:srgbClr val="26303A"/>
                          </a:solidFill>
                          <a:latin typeface="Arial" pitchFamily="34" charset="0"/>
                          <a:ea typeface="Arial" pitchFamily="34" charset="-122"/>
                          <a:cs typeface="Arial" pitchFamily="34" charset="-120"/>
                        </a:rPr>
                        <a:t>Cadence</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Pool calendar</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Project issuances</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Administrative annexation per deal</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r>
              <a:tr h="0">
                <a:tc>
                  <a:txBody>
                    <a:bodyPr/>
                    <a:lstStyle/>
                    <a:p>
                      <a:pPr indent="0" marL="0">
                        <a:buNone/>
                      </a:pPr>
                      <a:r>
                        <a:rPr lang="en-US" sz="1100" dirty="0">
                          <a:solidFill>
                            <a:srgbClr val="26303A"/>
                          </a:solidFill>
                          <a:latin typeface="Arial" pitchFamily="34" charset="0"/>
                          <a:ea typeface="Arial" pitchFamily="34" charset="-122"/>
                          <a:cs typeface="Arial" pitchFamily="34" charset="-120"/>
                        </a:rPr>
                        <a:t>Segment</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Mid to large</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Large</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c>
                  <a:txBody>
                    <a:bodyPr/>
                    <a:lstStyle/>
                    <a:p>
                      <a:pPr indent="0" marL="0">
                        <a:buNone/>
                      </a:pPr>
                      <a:r>
                        <a:rPr lang="en-US" sz="1100" dirty="0">
                          <a:solidFill>
                            <a:srgbClr val="26303A"/>
                          </a:solidFill>
                          <a:latin typeface="Arial" pitchFamily="34" charset="0"/>
                          <a:ea typeface="Arial" pitchFamily="34" charset="-122"/>
                          <a:cs typeface="Arial" pitchFamily="34" charset="-120"/>
                        </a:rPr>
                        <a:t>Small, purpose-built</a:t>
                      </a:r>
                      <a:endParaRPr lang="en-US" sz="1100" dirty="0">
                        <a:latin typeface="Arial" charset="0"/>
                        <a:ea typeface="Arial" charset="0"/>
                        <a:cs typeface="Arial" charset="0"/>
                      </a:endParaRPr>
                    </a:p>
                  </a:txBody>
                  <a:tcPr marL="91440" marR="91440" marT="45720" marB="45720" anchor="t">
                    <a:lnL w="9525" cap="flat" cmpd="sng" algn="ctr">
                      <a:solidFill>
                        <a:srgbClr val="D3DAE3"/>
                      </a:solidFill>
                      <a:prstDash val="solid"/>
                      <a:round/>
                      <a:headEnd type="none" w="med" len="med"/>
                      <a:tailEnd type="none" w="med" len="med"/>
                    </a:lnL>
                    <a:lnR w="9525" cap="flat" cmpd="sng" algn="ctr">
                      <a:solidFill>
                        <a:srgbClr val="D3DAE3"/>
                      </a:solidFill>
                      <a:prstDash val="solid"/>
                      <a:round/>
                      <a:headEnd type="none" w="med" len="med"/>
                      <a:tailEnd type="none" w="med" len="med"/>
                    </a:lnR>
                    <a:lnT w="9525" cap="flat" cmpd="sng" algn="ctr">
                      <a:solidFill>
                        <a:srgbClr val="D3DAE3"/>
                      </a:solidFill>
                      <a:prstDash val="solid"/>
                      <a:round/>
                      <a:headEnd type="none" w="med" len="med"/>
                      <a:tailEnd type="none" w="med" len="med"/>
                    </a:lnT>
                    <a:lnB w="9525" cap="flat" cmpd="sng" algn="ctr">
                      <a:solidFill>
                        <a:srgbClr val="D3DAE3"/>
                      </a:solidFill>
                      <a:prstDash val="solid"/>
                      <a:round/>
                      <a:headEnd type="none" w="med" len="med"/>
                      <a:tailEnd type="none" w="med" len="med"/>
                    </a:lnB>
                  </a:tcPr>
                </a:tc>
              </a:tr>
            </a:tbl>
          </a:graphicData>
        </a:graphic>
      </p:graphicFrame>
      <p:sp>
        <p:nvSpPr>
          <p:cNvPr id="23" name="Text 20"/>
          <p:cNvSpPr/>
          <p:nvPr/>
        </p:nvSpPr>
        <p:spPr>
          <a:xfrm>
            <a:off x="548640" y="5120640"/>
            <a:ext cx="11064240" cy="548640"/>
          </a:xfrm>
          <a:prstGeom prst="rect">
            <a:avLst/>
          </a:prstGeom>
          <a:noFill/>
          <a:ln/>
        </p:spPr>
        <p:txBody>
          <a:bodyPr wrap="square" rtlCol="0" anchor="ctr"/>
          <a:lstStyle/>
          <a:p>
            <a:pPr indent="0" marL="0">
              <a:buNone/>
            </a:pPr>
            <a:r>
              <a:rPr lang="en-US" sz="1350" i="1" dirty="0">
                <a:solidFill>
                  <a:srgbClr val="153A5B"/>
                </a:solidFill>
                <a:latin typeface="Georgia" pitchFamily="34" charset="0"/>
                <a:ea typeface="Georgia" pitchFamily="34" charset="-122"/>
                <a:cs typeface="Georgia" pitchFamily="34" charset="-120"/>
              </a:rPr>
              <a:t>Both programs prove the mechanism and the market. The gap is fixed cost per transaction and calendar, which is what the operating model attacks.</a:t>
            </a:r>
            <a:endParaRPr lang="en-US" sz="1350" dirty="0"/>
          </a:p>
        </p:txBody>
      </p:sp>
      <p:sp>
        <p:nvSpPr>
          <p:cNvPr id="24" name="Text 21"/>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25" name="Text 22"/>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BUSINESS MODEL</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An administrator, never a lender</a:t>
            </a:r>
            <a:endParaRPr lang="en-US" sz="2200" dirty="0"/>
          </a:p>
        </p:txBody>
      </p:sp>
      <p:sp>
        <p:nvSpPr>
          <p:cNvPr id="21" name="Shape 19"/>
          <p:cNvSpPr/>
          <p:nvPr/>
        </p:nvSpPr>
        <p:spPr>
          <a:xfrm>
            <a:off x="0" y="932688"/>
            <a:ext cx="12188952" cy="41148"/>
          </a:xfrm>
          <a:prstGeom prst="rect">
            <a:avLst/>
          </a:prstGeom>
          <a:solidFill>
            <a:srgbClr val="3E7C59"/>
          </a:solidFill>
          <a:ln/>
        </p:spPr>
      </p:sp>
      <p:sp>
        <p:nvSpPr>
          <p:cNvPr id="22" name="Text 20"/>
          <p:cNvSpPr/>
          <p:nvPr/>
        </p:nvSpPr>
        <p:spPr>
          <a:xfrm>
            <a:off x="548640" y="1280160"/>
            <a:ext cx="11064240" cy="4480560"/>
          </a:xfrm>
          <a:prstGeom prst="rect">
            <a:avLst/>
          </a:prstGeom>
          <a:noFill/>
          <a:ln/>
        </p:spPr>
        <p:txBody>
          <a:bodyPr wrap="square" rtlCol="0" anchor="t"/>
          <a:lstStyle/>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Revenue: transaction fees at each funding, plus annual administration fees for the life of every zone (levy, collections reconciliation, delinquency monitoring, investor reporting)</a:t>
            </a:r>
            <a:endParaRPr lang="en-US" sz="1450" dirty="0"/>
          </a:p>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The Act contemplates it: district administrative expenses, including consultants, are recoverable through the special tax (53317(d))</a:t>
            </a:r>
            <a:endParaRPr lang="en-US" sz="1450" dirty="0"/>
          </a:p>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Sourcing: independence functions (counsel, appraisal) stay outside permanently; the tax roll administrator is contracted first with shadow and transition rights, then brought in-house on defined triggers</a:t>
            </a:r>
            <a:endParaRPr lang="en-US" sz="1450" dirty="0"/>
          </a:p>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The document library is the moat: standard checklist, appraisal manual, tax formula template, annexation package, workbook</a:t>
            </a:r>
            <a:endParaRPr lang="en-US" sz="1450" dirty="0"/>
          </a:p>
          <a:p>
            <a:pPr marL="152400" indent="-152400">
              <a:spcAft>
                <a:spcPts val="800"/>
              </a:spcAft>
              <a:buSzPct val="100000"/>
              <a:buChar char="•"/>
            </a:pPr>
            <a:r>
              <a:rPr lang="en-US" sz="1450" dirty="0">
                <a:solidFill>
                  <a:srgbClr val="26303A"/>
                </a:solidFill>
                <a:latin typeface="Arial" pitchFamily="34" charset="0"/>
                <a:ea typeface="Arial" pitchFamily="34" charset="-122"/>
                <a:cs typeface="Arial" pitchFamily="34" charset="-120"/>
              </a:rPr>
              <a:t>Every closed deal pays administration for decades; the annual book compounds</a:t>
            </a:r>
            <a:endParaRPr lang="en-US" sz="1450" dirty="0"/>
          </a:p>
        </p:txBody>
      </p:sp>
      <p:sp>
        <p:nvSpPr>
          <p:cNvPr id="23" name="Text 21"/>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24" name="Text 22"/>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932688"/>
          </a:xfrm>
          <a:prstGeom prst="rect">
            <a:avLst/>
          </a:prstGeom>
          <a:solidFill>
            <a:srgbClr val="153A5B"/>
          </a:solidFill>
          <a:ln/>
        </p:spPr>
      </p:sp>
      <p:sp>
        <p:nvSpPr>
          <p:cNvPr id="3" name="Shape 1"/>
          <p:cNvSpPr/>
          <p:nvPr/>
        </p:nvSpPr>
        <p:spPr>
          <a:xfrm>
            <a:off x="384048" y="164592"/>
            <a:ext cx="137160" cy="137160"/>
          </a:xfrm>
          <a:prstGeom prst="rect">
            <a:avLst/>
          </a:prstGeom>
          <a:solidFill>
            <a:srgbClr val="153A5B"/>
          </a:solidFill>
          <a:ln/>
        </p:spPr>
      </p:sp>
      <p:sp>
        <p:nvSpPr>
          <p:cNvPr id="4" name="Shape 2"/>
          <p:cNvSpPr/>
          <p:nvPr/>
        </p:nvSpPr>
        <p:spPr>
          <a:xfrm>
            <a:off x="557784" y="164592"/>
            <a:ext cx="137160" cy="137160"/>
          </a:xfrm>
          <a:prstGeom prst="rect">
            <a:avLst/>
          </a:prstGeom>
          <a:solidFill>
            <a:srgbClr val="153A5B"/>
          </a:solidFill>
          <a:ln/>
        </p:spPr>
      </p:sp>
      <p:sp>
        <p:nvSpPr>
          <p:cNvPr id="5" name="Shape 3"/>
          <p:cNvSpPr/>
          <p:nvPr/>
        </p:nvSpPr>
        <p:spPr>
          <a:xfrm>
            <a:off x="731520" y="164592"/>
            <a:ext cx="137160" cy="137160"/>
          </a:xfrm>
          <a:prstGeom prst="rect">
            <a:avLst/>
          </a:prstGeom>
          <a:solidFill>
            <a:srgbClr val="153A5B"/>
          </a:solidFill>
          <a:ln/>
        </p:spPr>
      </p:sp>
      <p:sp>
        <p:nvSpPr>
          <p:cNvPr id="6" name="Shape 4"/>
          <p:cNvSpPr/>
          <p:nvPr/>
        </p:nvSpPr>
        <p:spPr>
          <a:xfrm>
            <a:off x="905256" y="164592"/>
            <a:ext cx="137160" cy="137160"/>
          </a:xfrm>
          <a:prstGeom prst="rect">
            <a:avLst/>
          </a:prstGeom>
          <a:solidFill>
            <a:srgbClr val="153A5B"/>
          </a:solidFill>
          <a:ln/>
        </p:spPr>
      </p:sp>
      <p:sp>
        <p:nvSpPr>
          <p:cNvPr id="7" name="Shape 5"/>
          <p:cNvSpPr/>
          <p:nvPr/>
        </p:nvSpPr>
        <p:spPr>
          <a:xfrm>
            <a:off x="384048" y="338328"/>
            <a:ext cx="137160" cy="137160"/>
          </a:xfrm>
          <a:prstGeom prst="rect">
            <a:avLst/>
          </a:prstGeom>
          <a:solidFill>
            <a:srgbClr val="153A5B"/>
          </a:solidFill>
          <a:ln/>
        </p:spPr>
      </p:sp>
      <p:sp>
        <p:nvSpPr>
          <p:cNvPr id="8" name="Shape 6"/>
          <p:cNvSpPr/>
          <p:nvPr/>
        </p:nvSpPr>
        <p:spPr>
          <a:xfrm>
            <a:off x="557784" y="338328"/>
            <a:ext cx="137160" cy="137160"/>
          </a:xfrm>
          <a:prstGeom prst="rect">
            <a:avLst/>
          </a:prstGeom>
          <a:solidFill>
            <a:srgbClr val="153A5B"/>
          </a:solidFill>
          <a:ln/>
        </p:spPr>
      </p:sp>
      <p:sp>
        <p:nvSpPr>
          <p:cNvPr id="9" name="Shape 7"/>
          <p:cNvSpPr/>
          <p:nvPr/>
        </p:nvSpPr>
        <p:spPr>
          <a:xfrm>
            <a:off x="731520" y="338328"/>
            <a:ext cx="137160" cy="137160"/>
          </a:xfrm>
          <a:prstGeom prst="rect">
            <a:avLst/>
          </a:prstGeom>
          <a:solidFill>
            <a:srgbClr val="153A5B"/>
          </a:solidFill>
          <a:ln/>
        </p:spPr>
      </p:sp>
      <p:sp>
        <p:nvSpPr>
          <p:cNvPr id="10" name="Shape 8"/>
          <p:cNvSpPr/>
          <p:nvPr/>
        </p:nvSpPr>
        <p:spPr>
          <a:xfrm>
            <a:off x="905256" y="338328"/>
            <a:ext cx="137160" cy="137160"/>
          </a:xfrm>
          <a:prstGeom prst="rect">
            <a:avLst/>
          </a:prstGeom>
          <a:solidFill>
            <a:srgbClr val="3E7C59"/>
          </a:solidFill>
          <a:ln/>
        </p:spPr>
      </p:sp>
      <p:sp>
        <p:nvSpPr>
          <p:cNvPr id="11" name="Shape 9"/>
          <p:cNvSpPr/>
          <p:nvPr/>
        </p:nvSpPr>
        <p:spPr>
          <a:xfrm>
            <a:off x="384048" y="512064"/>
            <a:ext cx="137160" cy="137160"/>
          </a:xfrm>
          <a:prstGeom prst="rect">
            <a:avLst/>
          </a:prstGeom>
          <a:solidFill>
            <a:srgbClr val="153A5B"/>
          </a:solidFill>
          <a:ln/>
        </p:spPr>
      </p:sp>
      <p:sp>
        <p:nvSpPr>
          <p:cNvPr id="12" name="Shape 10"/>
          <p:cNvSpPr/>
          <p:nvPr/>
        </p:nvSpPr>
        <p:spPr>
          <a:xfrm>
            <a:off x="557784" y="512064"/>
            <a:ext cx="137160" cy="137160"/>
          </a:xfrm>
          <a:prstGeom prst="rect">
            <a:avLst/>
          </a:prstGeom>
          <a:solidFill>
            <a:srgbClr val="153A5B"/>
          </a:solidFill>
          <a:ln/>
        </p:spPr>
      </p:sp>
      <p:sp>
        <p:nvSpPr>
          <p:cNvPr id="13" name="Shape 11"/>
          <p:cNvSpPr/>
          <p:nvPr/>
        </p:nvSpPr>
        <p:spPr>
          <a:xfrm>
            <a:off x="731520" y="512064"/>
            <a:ext cx="137160" cy="137160"/>
          </a:xfrm>
          <a:prstGeom prst="rect">
            <a:avLst/>
          </a:prstGeom>
          <a:solidFill>
            <a:srgbClr val="3E7C59"/>
          </a:solidFill>
          <a:ln/>
        </p:spPr>
      </p:sp>
      <p:sp>
        <p:nvSpPr>
          <p:cNvPr id="14" name="Shape 12"/>
          <p:cNvSpPr/>
          <p:nvPr/>
        </p:nvSpPr>
        <p:spPr>
          <a:xfrm>
            <a:off x="905256" y="512064"/>
            <a:ext cx="137160" cy="137160"/>
          </a:xfrm>
          <a:prstGeom prst="rect">
            <a:avLst/>
          </a:prstGeom>
          <a:solidFill>
            <a:srgbClr val="3E7C59"/>
          </a:solidFill>
          <a:ln/>
        </p:spPr>
      </p:sp>
      <p:sp>
        <p:nvSpPr>
          <p:cNvPr id="15" name="Shape 13"/>
          <p:cNvSpPr/>
          <p:nvPr/>
        </p:nvSpPr>
        <p:spPr>
          <a:xfrm>
            <a:off x="384048" y="685800"/>
            <a:ext cx="137160" cy="137160"/>
          </a:xfrm>
          <a:prstGeom prst="rect">
            <a:avLst/>
          </a:prstGeom>
          <a:solidFill>
            <a:srgbClr val="153A5B"/>
          </a:solidFill>
          <a:ln/>
        </p:spPr>
      </p:sp>
      <p:sp>
        <p:nvSpPr>
          <p:cNvPr id="16" name="Shape 14"/>
          <p:cNvSpPr/>
          <p:nvPr/>
        </p:nvSpPr>
        <p:spPr>
          <a:xfrm>
            <a:off x="557784" y="685800"/>
            <a:ext cx="137160" cy="137160"/>
          </a:xfrm>
          <a:prstGeom prst="rect">
            <a:avLst/>
          </a:prstGeom>
          <a:solidFill>
            <a:srgbClr val="3E7C59"/>
          </a:solidFill>
          <a:ln/>
        </p:spPr>
      </p:sp>
      <p:sp>
        <p:nvSpPr>
          <p:cNvPr id="17" name="Shape 15"/>
          <p:cNvSpPr/>
          <p:nvPr/>
        </p:nvSpPr>
        <p:spPr>
          <a:xfrm>
            <a:off x="731520" y="685800"/>
            <a:ext cx="137160" cy="137160"/>
          </a:xfrm>
          <a:prstGeom prst="rect">
            <a:avLst/>
          </a:prstGeom>
          <a:solidFill>
            <a:srgbClr val="3E7C59"/>
          </a:solidFill>
          <a:ln/>
        </p:spPr>
      </p:sp>
      <p:sp>
        <p:nvSpPr>
          <p:cNvPr id="18" name="Shape 16"/>
          <p:cNvSpPr/>
          <p:nvPr/>
        </p:nvSpPr>
        <p:spPr>
          <a:xfrm>
            <a:off x="905256" y="685800"/>
            <a:ext cx="137160" cy="137160"/>
          </a:xfrm>
          <a:prstGeom prst="rect">
            <a:avLst/>
          </a:prstGeom>
          <a:solidFill>
            <a:srgbClr val="153A5B"/>
          </a:solidFill>
          <a:ln/>
        </p:spPr>
      </p:sp>
      <p:sp>
        <p:nvSpPr>
          <p:cNvPr id="19" name="Text 17"/>
          <p:cNvSpPr/>
          <p:nvPr/>
        </p:nvSpPr>
        <p:spPr>
          <a:xfrm>
            <a:off x="1234440" y="91440"/>
            <a:ext cx="8595360" cy="292608"/>
          </a:xfrm>
          <a:prstGeom prst="rect">
            <a:avLst/>
          </a:prstGeom>
          <a:noFill/>
          <a:ln/>
        </p:spPr>
        <p:txBody>
          <a:bodyPr wrap="square" rtlCol="0" anchor="ctr"/>
          <a:lstStyle/>
          <a:p>
            <a:pPr indent="0" marL="0">
              <a:buNone/>
            </a:pPr>
            <a:r>
              <a:rPr lang="en-US" sz="1050" b="1" spc="200" kern="0" dirty="0">
                <a:solidFill>
                  <a:srgbClr val="9FD0B4"/>
                </a:solidFill>
                <a:latin typeface="Arial" pitchFamily="34" charset="0"/>
                <a:ea typeface="Arial" pitchFamily="34" charset="-122"/>
                <a:cs typeface="Arial" pitchFamily="34" charset="-120"/>
              </a:rPr>
              <a:t>PILOT, ROLLOUT, AND WHAT COULD KILL IT</a:t>
            </a:r>
            <a:endParaRPr lang="en-US" sz="1050" dirty="0"/>
          </a:p>
        </p:txBody>
      </p:sp>
      <p:sp>
        <p:nvSpPr>
          <p:cNvPr id="20" name="Text 18"/>
          <p:cNvSpPr/>
          <p:nvPr/>
        </p:nvSpPr>
        <p:spPr>
          <a:xfrm>
            <a:off x="1234440" y="329184"/>
            <a:ext cx="1042416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Small first, honest throughout</a:t>
            </a:r>
            <a:endParaRPr lang="en-US" sz="2200" dirty="0"/>
          </a:p>
        </p:txBody>
      </p:sp>
      <p:sp>
        <p:nvSpPr>
          <p:cNvPr id="21" name="Shape 19"/>
          <p:cNvSpPr/>
          <p:nvPr/>
        </p:nvSpPr>
        <p:spPr>
          <a:xfrm>
            <a:off x="0" y="932688"/>
            <a:ext cx="12188952" cy="41148"/>
          </a:xfrm>
          <a:prstGeom prst="rect">
            <a:avLst/>
          </a:prstGeom>
          <a:solidFill>
            <a:srgbClr val="3E7C59"/>
          </a:solidFill>
          <a:ln/>
        </p:spPr>
      </p:sp>
      <p:sp>
        <p:nvSpPr>
          <p:cNvPr id="22" name="Text 20"/>
          <p:cNvSpPr/>
          <p:nvPr/>
        </p:nvSpPr>
        <p:spPr>
          <a:xfrm>
            <a:off x="548640" y="1188720"/>
            <a:ext cx="5394960" cy="320040"/>
          </a:xfrm>
          <a:prstGeom prst="rect">
            <a:avLst/>
          </a:prstGeom>
          <a:noFill/>
          <a:ln/>
        </p:spPr>
        <p:txBody>
          <a:bodyPr wrap="square" rtlCol="0" anchor="ctr"/>
          <a:lstStyle/>
          <a:p>
            <a:pPr indent="0" marL="0">
              <a:buNone/>
            </a:pPr>
            <a:r>
              <a:rPr lang="en-US" sz="1400" b="1" dirty="0">
                <a:solidFill>
                  <a:srgbClr val="153A5B"/>
                </a:solidFill>
                <a:latin typeface="Arial" pitchFamily="34" charset="0"/>
                <a:ea typeface="Arial" pitchFamily="34" charset="-122"/>
                <a:cs typeface="Arial" pitchFamily="34" charset="-120"/>
              </a:rPr>
              <a:t>Pilot and rollout</a:t>
            </a:r>
            <a:endParaRPr lang="en-US" sz="1400" dirty="0"/>
          </a:p>
        </p:txBody>
      </p:sp>
      <p:sp>
        <p:nvSpPr>
          <p:cNvPr id="23" name="Text 21"/>
          <p:cNvSpPr/>
          <p:nvPr/>
        </p:nvSpPr>
        <p:spPr>
          <a:xfrm>
            <a:off x="548640" y="1554480"/>
            <a:ext cx="5394960" cy="4023360"/>
          </a:xfrm>
          <a:prstGeom prst="rect">
            <a:avLst/>
          </a:prstGeom>
          <a:noFill/>
          <a:ln/>
        </p:spPr>
        <p:txBody>
          <a:bodyPr wrap="square" rtlCol="0" anchor="t"/>
          <a:lstStyle/>
          <a:p>
            <a:pPr marL="152400" indent="-152400">
              <a:spcAft>
                <a:spcPts val="800"/>
              </a:spcAft>
              <a:buSzPct val="100000"/>
              <a:buChar char="•"/>
            </a:pPr>
            <a:r>
              <a:rPr lang="en-US" sz="1250" dirty="0">
                <a:solidFill>
                  <a:srgbClr val="26303A"/>
                </a:solidFill>
                <a:latin typeface="Arial" pitchFamily="34" charset="0"/>
                <a:ea typeface="Arial" pitchFamily="34" charset="-122"/>
                <a:cs typeface="Arial" pitchFamily="34" charset="-120"/>
              </a:rPr>
              <a:t>Pilot: a small finished-lot subdivision in the Sacramento area, financing eligible permit and impact fees; specifics publish when documents are final</a:t>
            </a:r>
            <a:endParaRPr lang="en-US" sz="1250" dirty="0"/>
          </a:p>
          <a:p>
            <a:pPr marL="152400" indent="-152400">
              <a:spcAft>
                <a:spcPts val="800"/>
              </a:spcAft>
              <a:buSzPct val="100000"/>
              <a:buChar char="•"/>
            </a:pPr>
            <a:r>
              <a:rPr lang="en-US" sz="1250" dirty="0">
                <a:solidFill>
                  <a:srgbClr val="26303A"/>
                </a:solidFill>
                <a:latin typeface="Arial" pitchFamily="34" charset="0"/>
                <a:ea typeface="Arial" pitchFamily="34" charset="-122"/>
                <a:cs typeface="Arial" pitchFamily="34" charset="-120"/>
              </a:rPr>
              <a:t>Phase by demand: first city direct, neighboring jurisdictions next, all documents issuer-neutral</a:t>
            </a:r>
            <a:endParaRPr lang="en-US" sz="1250" dirty="0"/>
          </a:p>
          <a:p>
            <a:pPr marL="152400" indent="-152400">
              <a:spcAft>
                <a:spcPts val="800"/>
              </a:spcAft>
              <a:buSzPct val="100000"/>
              <a:buChar char="•"/>
            </a:pPr>
            <a:r>
              <a:rPr lang="en-US" sz="1250" dirty="0">
                <a:solidFill>
                  <a:srgbClr val="26303A"/>
                </a:solidFill>
                <a:latin typeface="Arial" pitchFamily="34" charset="0"/>
                <a:ea typeface="Arial" pitchFamily="34" charset="-122"/>
                <a:cs typeface="Arial" pitchFamily="34" charset="-120"/>
              </a:rPr>
              <a:t>A joint powers authority is the end state, not the start: formed or joined at roughly the third jurisdiction when defined triggers fire</a:t>
            </a:r>
            <a:endParaRPr lang="en-US" sz="1250" dirty="0"/>
          </a:p>
        </p:txBody>
      </p:sp>
      <p:sp>
        <p:nvSpPr>
          <p:cNvPr id="24" name="Text 22"/>
          <p:cNvSpPr/>
          <p:nvPr/>
        </p:nvSpPr>
        <p:spPr>
          <a:xfrm>
            <a:off x="6309360" y="1188720"/>
            <a:ext cx="5303520" cy="320040"/>
          </a:xfrm>
          <a:prstGeom prst="rect">
            <a:avLst/>
          </a:prstGeom>
          <a:noFill/>
          <a:ln/>
        </p:spPr>
        <p:txBody>
          <a:bodyPr wrap="square" rtlCol="0" anchor="ctr"/>
          <a:lstStyle/>
          <a:p>
            <a:pPr indent="0" marL="0">
              <a:buNone/>
            </a:pPr>
            <a:r>
              <a:rPr lang="en-US" sz="1400" b="1" dirty="0">
                <a:solidFill>
                  <a:srgbClr val="153A5B"/>
                </a:solidFill>
                <a:latin typeface="Arial" pitchFamily="34" charset="0"/>
                <a:ea typeface="Arial" pitchFamily="34" charset="-122"/>
                <a:cs typeface="Arial" pitchFamily="34" charset="-120"/>
              </a:rPr>
              <a:t>Risk factors, stated plainly</a:t>
            </a:r>
            <a:endParaRPr lang="en-US" sz="1400" dirty="0"/>
          </a:p>
        </p:txBody>
      </p:sp>
      <p:sp>
        <p:nvSpPr>
          <p:cNvPr id="25" name="Text 23"/>
          <p:cNvSpPr/>
          <p:nvPr/>
        </p:nvSpPr>
        <p:spPr>
          <a:xfrm>
            <a:off x="6309360" y="1554480"/>
            <a:ext cx="5303520" cy="4023360"/>
          </a:xfrm>
          <a:prstGeom prst="rect">
            <a:avLst/>
          </a:prstGeom>
          <a:noFill/>
          <a:ln/>
        </p:spPr>
        <p:txBody>
          <a:bodyPr wrap="square" rtlCol="0" anchor="t"/>
          <a:lstStyle/>
          <a:p>
            <a:pPr marL="152400" indent="-152400">
              <a:spcAft>
                <a:spcPts val="800"/>
              </a:spcAft>
              <a:buSzPct val="100000"/>
              <a:buChar char="•"/>
            </a:pPr>
            <a:r>
              <a:rPr lang="en-US" sz="1250" dirty="0">
                <a:solidFill>
                  <a:srgbClr val="26303A"/>
                </a:solidFill>
                <a:latin typeface="Arial" pitchFamily="34" charset="0"/>
                <a:ea typeface="Arial" pitchFamily="34" charset="-122"/>
                <a:cs typeface="Arial" pitchFamily="34" charset="-120"/>
              </a:rPr>
              <a:t>Per-deal execution cost is a founder estimate ($5,000 to $30,000) until real quotes exist</a:t>
            </a:r>
            <a:endParaRPr lang="en-US" sz="1250" dirty="0"/>
          </a:p>
          <a:p>
            <a:pPr marL="152400" indent="-152400">
              <a:spcAft>
                <a:spcPts val="800"/>
              </a:spcAft>
              <a:buSzPct val="100000"/>
              <a:buChar char="•"/>
            </a:pPr>
            <a:r>
              <a:rPr lang="en-US" sz="1250" dirty="0">
                <a:solidFill>
                  <a:srgbClr val="26303A"/>
                </a:solidFill>
                <a:latin typeface="Arial" pitchFamily="34" charset="0"/>
                <a:ea typeface="Arial" pitchFamily="34" charset="-122"/>
                <a:cs typeface="Arial" pitchFamily="34" charset="-120"/>
              </a:rPr>
              <a:t>No purchaser committed; small-note appetite is what the pilot must prove</a:t>
            </a:r>
            <a:endParaRPr lang="en-US" sz="1250" dirty="0"/>
          </a:p>
          <a:p>
            <a:pPr marL="152400" indent="-152400">
              <a:spcAft>
                <a:spcPts val="800"/>
              </a:spcAft>
              <a:buSzPct val="100000"/>
              <a:buChar char="•"/>
            </a:pPr>
            <a:r>
              <a:rPr lang="en-US" sz="1250" dirty="0">
                <a:solidFill>
                  <a:srgbClr val="26303A"/>
                </a:solidFill>
                <a:latin typeface="Arial" pitchFamily="34" charset="0"/>
                <a:ea typeface="Arial" pitchFamily="34" charset="-122"/>
                <a:cs typeface="Arial" pitchFamily="34" charset="-120"/>
              </a:rPr>
              <a:t>City adoption pace; six-plus months to form each district before any JPA exists</a:t>
            </a:r>
            <a:endParaRPr lang="en-US" sz="1250" dirty="0"/>
          </a:p>
          <a:p>
            <a:pPr marL="152400" indent="-152400">
              <a:spcAft>
                <a:spcPts val="800"/>
              </a:spcAft>
              <a:buSzPct val="100000"/>
              <a:buChar char="•"/>
            </a:pPr>
            <a:r>
              <a:rPr lang="en-US" sz="1250" dirty="0">
                <a:solidFill>
                  <a:srgbClr val="26303A"/>
                </a:solidFill>
                <a:latin typeface="Arial" pitchFamily="34" charset="0"/>
                <a:ea typeface="Arial" pitchFamily="34" charset="-122"/>
                <a:cs typeface="Arial" pitchFamily="34" charset="-120"/>
              </a:rPr>
              <a:t>Delinquency and foreclosure timelines; trademark clearance pending; school fees excluded at launch</a:t>
            </a:r>
            <a:endParaRPr lang="en-US" sz="1250" dirty="0"/>
          </a:p>
          <a:p>
            <a:pPr marL="152400" indent="-152400">
              <a:spcAft>
                <a:spcPts val="800"/>
              </a:spcAft>
              <a:buSzPct val="100000"/>
              <a:buChar char="•"/>
            </a:pPr>
            <a:r>
              <a:rPr lang="en-US" sz="1250" dirty="0">
                <a:solidFill>
                  <a:srgbClr val="26303A"/>
                </a:solidFill>
                <a:latin typeface="Arial" pitchFamily="34" charset="0"/>
                <a:ea typeface="Arial" pitchFamily="34" charset="-122"/>
                <a:cs typeface="Arial" pitchFamily="34" charset="-120"/>
              </a:rPr>
              <a:t>Incumbents could move down-market</a:t>
            </a:r>
            <a:endParaRPr lang="en-US" sz="1250" dirty="0"/>
          </a:p>
        </p:txBody>
      </p:sp>
      <p:sp>
        <p:nvSpPr>
          <p:cNvPr id="26" name="Text 24"/>
          <p:cNvSpPr/>
          <p:nvPr/>
        </p:nvSpPr>
        <p:spPr>
          <a:xfrm>
            <a:off x="384048" y="6547104"/>
            <a:ext cx="9601200" cy="228600"/>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INSITE (TM) Development Impact Fee Financing Program  |  Pre-launch  |  HGF Management Company  |  July 2026</a:t>
            </a:r>
            <a:endParaRPr lang="en-US" sz="800" dirty="0"/>
          </a:p>
        </p:txBody>
      </p:sp>
      <p:sp>
        <p:nvSpPr>
          <p:cNvPr id="27" name="Text 25"/>
          <p:cNvSpPr/>
          <p:nvPr/>
        </p:nvSpPr>
        <p:spPr>
          <a:xfrm>
            <a:off x="11548872" y="6547104"/>
            <a:ext cx="365760" cy="228600"/>
          </a:xfrm>
          <a:prstGeom prst="rect">
            <a:avLst/>
          </a:prstGeom>
          <a:noFill/>
          <a:ln/>
        </p:spPr>
        <p:txBody>
          <a:bodyPr wrap="square" rtlCol="0" anchor="ctr"/>
          <a:lstStyle/>
          <a:p>
            <a:pPr algn="r" indent="0" marL="0">
              <a:buNone/>
            </a:pPr>
            <a:r>
              <a:rPr lang="en-US" sz="800" dirty="0">
                <a:solidFill>
                  <a:srgbClr val="6B7280"/>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3A5B"/>
        </a:solidFill>
      </p:bgPr>
    </p:bg>
    <p:spTree>
      <p:nvGrpSpPr>
        <p:cNvPr id="1" name=""/>
        <p:cNvGrpSpPr/>
        <p:nvPr/>
      </p:nvGrpSpPr>
      <p:grpSpPr>
        <a:xfrm>
          <a:off x="0" y="0"/>
          <a:ext cx="0" cy="0"/>
          <a:chOff x="0" y="0"/>
          <a:chExt cx="0" cy="0"/>
        </a:xfrm>
      </p:grpSpPr>
      <p:sp>
        <p:nvSpPr>
          <p:cNvPr id="2" name="Shape 0"/>
          <p:cNvSpPr/>
          <p:nvPr/>
        </p:nvSpPr>
        <p:spPr>
          <a:xfrm>
            <a:off x="457200" y="411480"/>
            <a:ext cx="155448" cy="155448"/>
          </a:xfrm>
          <a:prstGeom prst="rect">
            <a:avLst/>
          </a:prstGeom>
          <a:solidFill>
            <a:srgbClr val="FFFFFF"/>
          </a:solidFill>
          <a:ln/>
        </p:spPr>
      </p:sp>
      <p:sp>
        <p:nvSpPr>
          <p:cNvPr id="3" name="Shape 1"/>
          <p:cNvSpPr/>
          <p:nvPr/>
        </p:nvSpPr>
        <p:spPr>
          <a:xfrm>
            <a:off x="658368" y="411480"/>
            <a:ext cx="155448" cy="155448"/>
          </a:xfrm>
          <a:prstGeom prst="rect">
            <a:avLst/>
          </a:prstGeom>
          <a:solidFill>
            <a:srgbClr val="FFFFFF"/>
          </a:solidFill>
          <a:ln/>
        </p:spPr>
      </p:sp>
      <p:sp>
        <p:nvSpPr>
          <p:cNvPr id="4" name="Shape 2"/>
          <p:cNvSpPr/>
          <p:nvPr/>
        </p:nvSpPr>
        <p:spPr>
          <a:xfrm>
            <a:off x="859536" y="411480"/>
            <a:ext cx="155448" cy="155448"/>
          </a:xfrm>
          <a:prstGeom prst="rect">
            <a:avLst/>
          </a:prstGeom>
          <a:solidFill>
            <a:srgbClr val="FFFFFF"/>
          </a:solidFill>
          <a:ln/>
        </p:spPr>
      </p:sp>
      <p:sp>
        <p:nvSpPr>
          <p:cNvPr id="5" name="Shape 3"/>
          <p:cNvSpPr/>
          <p:nvPr/>
        </p:nvSpPr>
        <p:spPr>
          <a:xfrm>
            <a:off x="1060704" y="411480"/>
            <a:ext cx="155448" cy="155448"/>
          </a:xfrm>
          <a:prstGeom prst="rect">
            <a:avLst/>
          </a:prstGeom>
          <a:solidFill>
            <a:srgbClr val="FFFFFF"/>
          </a:solidFill>
          <a:ln/>
        </p:spPr>
      </p:sp>
      <p:sp>
        <p:nvSpPr>
          <p:cNvPr id="6" name="Shape 4"/>
          <p:cNvSpPr/>
          <p:nvPr/>
        </p:nvSpPr>
        <p:spPr>
          <a:xfrm>
            <a:off x="457200" y="612648"/>
            <a:ext cx="155448" cy="155448"/>
          </a:xfrm>
          <a:prstGeom prst="rect">
            <a:avLst/>
          </a:prstGeom>
          <a:solidFill>
            <a:srgbClr val="FFFFFF"/>
          </a:solidFill>
          <a:ln/>
        </p:spPr>
      </p:sp>
      <p:sp>
        <p:nvSpPr>
          <p:cNvPr id="7" name="Shape 5"/>
          <p:cNvSpPr/>
          <p:nvPr/>
        </p:nvSpPr>
        <p:spPr>
          <a:xfrm>
            <a:off x="658368" y="612648"/>
            <a:ext cx="155448" cy="155448"/>
          </a:xfrm>
          <a:prstGeom prst="rect">
            <a:avLst/>
          </a:prstGeom>
          <a:solidFill>
            <a:srgbClr val="FFFFFF"/>
          </a:solidFill>
          <a:ln/>
        </p:spPr>
      </p:sp>
      <p:sp>
        <p:nvSpPr>
          <p:cNvPr id="8" name="Shape 6"/>
          <p:cNvSpPr/>
          <p:nvPr/>
        </p:nvSpPr>
        <p:spPr>
          <a:xfrm>
            <a:off x="859536" y="612648"/>
            <a:ext cx="155448" cy="155448"/>
          </a:xfrm>
          <a:prstGeom prst="rect">
            <a:avLst/>
          </a:prstGeom>
          <a:solidFill>
            <a:srgbClr val="FFFFFF"/>
          </a:solidFill>
          <a:ln/>
        </p:spPr>
      </p:sp>
      <p:sp>
        <p:nvSpPr>
          <p:cNvPr id="9" name="Shape 7"/>
          <p:cNvSpPr/>
          <p:nvPr/>
        </p:nvSpPr>
        <p:spPr>
          <a:xfrm>
            <a:off x="1060704" y="612648"/>
            <a:ext cx="155448" cy="155448"/>
          </a:xfrm>
          <a:prstGeom prst="rect">
            <a:avLst/>
          </a:prstGeom>
          <a:solidFill>
            <a:srgbClr val="3E7C59"/>
          </a:solidFill>
          <a:ln/>
        </p:spPr>
      </p:sp>
      <p:sp>
        <p:nvSpPr>
          <p:cNvPr id="10" name="Shape 8"/>
          <p:cNvSpPr/>
          <p:nvPr/>
        </p:nvSpPr>
        <p:spPr>
          <a:xfrm>
            <a:off x="457200" y="813816"/>
            <a:ext cx="155448" cy="155448"/>
          </a:xfrm>
          <a:prstGeom prst="rect">
            <a:avLst/>
          </a:prstGeom>
          <a:solidFill>
            <a:srgbClr val="FFFFFF"/>
          </a:solidFill>
          <a:ln/>
        </p:spPr>
      </p:sp>
      <p:sp>
        <p:nvSpPr>
          <p:cNvPr id="11" name="Shape 9"/>
          <p:cNvSpPr/>
          <p:nvPr/>
        </p:nvSpPr>
        <p:spPr>
          <a:xfrm>
            <a:off x="658368" y="813816"/>
            <a:ext cx="155448" cy="155448"/>
          </a:xfrm>
          <a:prstGeom prst="rect">
            <a:avLst/>
          </a:prstGeom>
          <a:solidFill>
            <a:srgbClr val="FFFFFF"/>
          </a:solidFill>
          <a:ln/>
        </p:spPr>
      </p:sp>
      <p:sp>
        <p:nvSpPr>
          <p:cNvPr id="12" name="Shape 10"/>
          <p:cNvSpPr/>
          <p:nvPr/>
        </p:nvSpPr>
        <p:spPr>
          <a:xfrm>
            <a:off x="859536" y="813816"/>
            <a:ext cx="155448" cy="155448"/>
          </a:xfrm>
          <a:prstGeom prst="rect">
            <a:avLst/>
          </a:prstGeom>
          <a:solidFill>
            <a:srgbClr val="3E7C59"/>
          </a:solidFill>
          <a:ln/>
        </p:spPr>
      </p:sp>
      <p:sp>
        <p:nvSpPr>
          <p:cNvPr id="13" name="Shape 11"/>
          <p:cNvSpPr/>
          <p:nvPr/>
        </p:nvSpPr>
        <p:spPr>
          <a:xfrm>
            <a:off x="1060704" y="813816"/>
            <a:ext cx="155448" cy="155448"/>
          </a:xfrm>
          <a:prstGeom prst="rect">
            <a:avLst/>
          </a:prstGeom>
          <a:solidFill>
            <a:srgbClr val="3E7C59"/>
          </a:solidFill>
          <a:ln/>
        </p:spPr>
      </p:sp>
      <p:sp>
        <p:nvSpPr>
          <p:cNvPr id="14" name="Shape 12"/>
          <p:cNvSpPr/>
          <p:nvPr/>
        </p:nvSpPr>
        <p:spPr>
          <a:xfrm>
            <a:off x="457200" y="1014984"/>
            <a:ext cx="155448" cy="155448"/>
          </a:xfrm>
          <a:prstGeom prst="rect">
            <a:avLst/>
          </a:prstGeom>
          <a:solidFill>
            <a:srgbClr val="FFFFFF"/>
          </a:solidFill>
          <a:ln/>
        </p:spPr>
      </p:sp>
      <p:sp>
        <p:nvSpPr>
          <p:cNvPr id="15" name="Shape 13"/>
          <p:cNvSpPr/>
          <p:nvPr/>
        </p:nvSpPr>
        <p:spPr>
          <a:xfrm>
            <a:off x="658368" y="1014984"/>
            <a:ext cx="155448" cy="155448"/>
          </a:xfrm>
          <a:prstGeom prst="rect">
            <a:avLst/>
          </a:prstGeom>
          <a:solidFill>
            <a:srgbClr val="3E7C59"/>
          </a:solidFill>
          <a:ln/>
        </p:spPr>
      </p:sp>
      <p:sp>
        <p:nvSpPr>
          <p:cNvPr id="16" name="Shape 14"/>
          <p:cNvSpPr/>
          <p:nvPr/>
        </p:nvSpPr>
        <p:spPr>
          <a:xfrm>
            <a:off x="859536" y="1014984"/>
            <a:ext cx="155448" cy="155448"/>
          </a:xfrm>
          <a:prstGeom prst="rect">
            <a:avLst/>
          </a:prstGeom>
          <a:solidFill>
            <a:srgbClr val="3E7C59"/>
          </a:solidFill>
          <a:ln/>
        </p:spPr>
      </p:sp>
      <p:sp>
        <p:nvSpPr>
          <p:cNvPr id="17" name="Shape 15"/>
          <p:cNvSpPr/>
          <p:nvPr/>
        </p:nvSpPr>
        <p:spPr>
          <a:xfrm>
            <a:off x="1060704" y="1014984"/>
            <a:ext cx="155448" cy="155448"/>
          </a:xfrm>
          <a:prstGeom prst="rect">
            <a:avLst/>
          </a:prstGeom>
          <a:solidFill>
            <a:srgbClr val="FFFFFF"/>
          </a:solidFill>
          <a:ln/>
        </p:spPr>
      </p:sp>
      <p:sp>
        <p:nvSpPr>
          <p:cNvPr id="18" name="Text 16"/>
          <p:cNvSpPr/>
          <p:nvPr/>
        </p:nvSpPr>
        <p:spPr>
          <a:xfrm>
            <a:off x="1371600" y="457200"/>
            <a:ext cx="914400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Status and asks</a:t>
            </a:r>
            <a:endParaRPr lang="en-US" sz="2600" dirty="0"/>
          </a:p>
        </p:txBody>
      </p:sp>
      <p:sp>
        <p:nvSpPr>
          <p:cNvPr id="19" name="Text 17"/>
          <p:cNvSpPr/>
          <p:nvPr/>
        </p:nvSpPr>
        <p:spPr>
          <a:xfrm>
            <a:off x="640080" y="1463040"/>
            <a:ext cx="5394960" cy="320040"/>
          </a:xfrm>
          <a:prstGeom prst="rect">
            <a:avLst/>
          </a:prstGeom>
          <a:noFill/>
          <a:ln/>
        </p:spPr>
        <p:txBody>
          <a:bodyPr wrap="square" rtlCol="0" anchor="ctr"/>
          <a:lstStyle/>
          <a:p>
            <a:pPr indent="0" marL="0">
              <a:buNone/>
            </a:pPr>
            <a:r>
              <a:rPr lang="en-US" sz="1400" b="1" dirty="0">
                <a:solidFill>
                  <a:srgbClr val="9FD0B4"/>
                </a:solidFill>
                <a:latin typeface="Arial" pitchFamily="34" charset="0"/>
                <a:ea typeface="Arial" pitchFamily="34" charset="-122"/>
                <a:cs typeface="Arial" pitchFamily="34" charset="-120"/>
              </a:rPr>
              <a:t>Proven today</a:t>
            </a:r>
            <a:endParaRPr lang="en-US" sz="1400" dirty="0"/>
          </a:p>
        </p:txBody>
      </p:sp>
      <p:sp>
        <p:nvSpPr>
          <p:cNvPr id="20" name="Text 18"/>
          <p:cNvSpPr/>
          <p:nvPr/>
        </p:nvSpPr>
        <p:spPr>
          <a:xfrm>
            <a:off x="640080" y="1828800"/>
            <a:ext cx="5394960" cy="3291840"/>
          </a:xfrm>
          <a:prstGeom prst="rect">
            <a:avLst/>
          </a:prstGeom>
          <a:noFill/>
          <a:ln/>
        </p:spPr>
        <p:txBody>
          <a:bodyPr wrap="square" rtlCol="0" anchor="t"/>
          <a:lstStyle/>
          <a:p>
            <a:pPr marL="342900" indent="-342900">
              <a:spcAft>
                <a:spcPts val="600"/>
              </a:spcAft>
              <a:buSzPct val="100000"/>
              <a:buChar char="•"/>
            </a:pPr>
            <a:r>
              <a:rPr lang="en-US" sz="1250" dirty="0">
                <a:solidFill>
                  <a:srgbClr val="CFE0EE"/>
                </a:solidFill>
                <a:latin typeface="Arial" pitchFamily="34" charset="0"/>
                <a:ea typeface="Arial" pitchFamily="34" charset="-122"/>
                <a:cs typeface="Arial" pitchFamily="34" charset="-120"/>
              </a:rPr>
              <a:t>The legal mechanism and live annexation precedents</a:t>
            </a:r>
            <a:endParaRPr lang="en-US" sz="1250" dirty="0"/>
          </a:p>
          <a:p>
            <a:pPr marL="342900" indent="-342900">
              <a:spcAft>
                <a:spcPts val="600"/>
              </a:spcAft>
              <a:buSzPct val="100000"/>
              <a:buChar char="•"/>
            </a:pPr>
            <a:r>
              <a:rPr lang="en-US" sz="1250" dirty="0">
                <a:solidFill>
                  <a:srgbClr val="CFE0EE"/>
                </a:solidFill>
                <a:latin typeface="Arial" pitchFamily="34" charset="0"/>
                <a:ea typeface="Arial" pitchFamily="34" charset="-122"/>
                <a:cs typeface="Arial" pitchFamily="34" charset="-120"/>
              </a:rPr>
              <a:t>Market arithmetic from primary Census data</a:t>
            </a:r>
            <a:endParaRPr lang="en-US" sz="1250" dirty="0"/>
          </a:p>
          <a:p>
            <a:pPr marL="342900" indent="-342900">
              <a:spcAft>
                <a:spcPts val="600"/>
              </a:spcAft>
              <a:buSzPct val="100000"/>
              <a:buChar char="•"/>
            </a:pPr>
            <a:r>
              <a:rPr lang="en-US" sz="1250" dirty="0">
                <a:solidFill>
                  <a:srgbClr val="CFE0EE"/>
                </a:solidFill>
                <a:latin typeface="Arial" pitchFamily="34" charset="0"/>
                <a:ea typeface="Arial" pitchFamily="34" charset="-122"/>
                <a:cs typeface="Arial" pitchFamily="34" charset="-120"/>
              </a:rPr>
              <a:t>A verified document library: whitepaper, claims register with source URLs, appraisal manual and RFQP, data package checklist, structure map, strategy memos, brand system, website with calculator</a:t>
            </a:r>
            <a:endParaRPr lang="en-US" sz="1250" dirty="0"/>
          </a:p>
          <a:p>
            <a:pPr marL="342900" indent="-342900">
              <a:buSzPct val="100000"/>
              <a:buChar char="•"/>
            </a:pPr>
            <a:r>
              <a:rPr lang="en-US" sz="1250" dirty="0">
                <a:solidFill>
                  <a:srgbClr val="CFE0EE"/>
                </a:solidFill>
                <a:latin typeface="Arial" pitchFamily="34" charset="0"/>
                <a:ea typeface="Arial" pitchFamily="34" charset="-122"/>
                <a:cs typeface="Arial" pitchFamily="34" charset="-120"/>
              </a:rPr>
              <a:t>Underwriting policy stricter than statute, with issuer precedent</a:t>
            </a:r>
            <a:endParaRPr lang="en-US" sz="1250" dirty="0"/>
          </a:p>
        </p:txBody>
      </p:sp>
      <p:sp>
        <p:nvSpPr>
          <p:cNvPr id="21" name="Text 19"/>
          <p:cNvSpPr/>
          <p:nvPr/>
        </p:nvSpPr>
        <p:spPr>
          <a:xfrm>
            <a:off x="6309360" y="1463040"/>
            <a:ext cx="5303520" cy="320040"/>
          </a:xfrm>
          <a:prstGeom prst="rect">
            <a:avLst/>
          </a:prstGeom>
          <a:noFill/>
          <a:ln/>
        </p:spPr>
        <p:txBody>
          <a:bodyPr wrap="square" rtlCol="0" anchor="ctr"/>
          <a:lstStyle/>
          <a:p>
            <a:pPr indent="0" marL="0">
              <a:buNone/>
            </a:pPr>
            <a:r>
              <a:rPr lang="en-US" sz="1400" b="1" dirty="0">
                <a:solidFill>
                  <a:srgbClr val="9FD0B4"/>
                </a:solidFill>
                <a:latin typeface="Arial" pitchFamily="34" charset="0"/>
                <a:ea typeface="Arial" pitchFamily="34" charset="-122"/>
                <a:cs typeface="Arial" pitchFamily="34" charset="-120"/>
              </a:rPr>
              <a:t>Pending, and asked of this room</a:t>
            </a:r>
            <a:endParaRPr lang="en-US" sz="1400" dirty="0"/>
          </a:p>
        </p:txBody>
      </p:sp>
      <p:sp>
        <p:nvSpPr>
          <p:cNvPr id="22" name="Text 20"/>
          <p:cNvSpPr/>
          <p:nvPr/>
        </p:nvSpPr>
        <p:spPr>
          <a:xfrm>
            <a:off x="6309360" y="1828800"/>
            <a:ext cx="5303520" cy="3291840"/>
          </a:xfrm>
          <a:prstGeom prst="rect">
            <a:avLst/>
          </a:prstGeom>
          <a:noFill/>
          <a:ln/>
        </p:spPr>
        <p:txBody>
          <a:bodyPr wrap="square" rtlCol="0" anchor="t"/>
          <a:lstStyle/>
          <a:p>
            <a:pPr marL="342900" indent="-342900">
              <a:spcAft>
                <a:spcPts val="600"/>
              </a:spcAft>
              <a:buSzPct val="100000"/>
              <a:buChar char="•"/>
            </a:pPr>
            <a:r>
              <a:rPr lang="en-US" sz="1250" dirty="0">
                <a:solidFill>
                  <a:srgbClr val="CFE0EE"/>
                </a:solidFill>
                <a:latin typeface="Arial" pitchFamily="34" charset="0"/>
                <a:ea typeface="Arial" pitchFamily="34" charset="-122"/>
                <a:cs typeface="Arial" pitchFamily="34" charset="-120"/>
              </a:rPr>
              <a:t>Select bond counsel, the special tax consultant, and the tax roll administrator (criteria prepared)</a:t>
            </a:r>
            <a:endParaRPr lang="en-US" sz="1250" dirty="0"/>
          </a:p>
          <a:p>
            <a:pPr marL="342900" indent="-342900">
              <a:spcAft>
                <a:spcPts val="600"/>
              </a:spcAft>
              <a:buSzPct val="100000"/>
              <a:buChar char="•"/>
            </a:pPr>
            <a:r>
              <a:rPr lang="en-US" sz="1250" dirty="0">
                <a:solidFill>
                  <a:srgbClr val="CFE0EE"/>
                </a:solidFill>
                <a:latin typeface="Arial" pitchFamily="34" charset="0"/>
                <a:ea typeface="Arial" pitchFamily="34" charset="-122"/>
                <a:cs typeface="Arial" pitchFamily="34" charset="-120"/>
              </a:rPr>
              <a:t>A briefing with the pilot city's finance and community development staff</a:t>
            </a:r>
            <a:endParaRPr lang="en-US" sz="1250" dirty="0"/>
          </a:p>
          <a:p>
            <a:pPr marL="342900" indent="-342900">
              <a:spcAft>
                <a:spcPts val="600"/>
              </a:spcAft>
              <a:buSzPct val="100000"/>
              <a:buChar char="•"/>
            </a:pPr>
            <a:r>
              <a:rPr lang="en-US" sz="1250" dirty="0">
                <a:solidFill>
                  <a:srgbClr val="CFE0EE"/>
                </a:solidFill>
                <a:latin typeface="Arial" pitchFamily="34" charset="0"/>
                <a:ea typeface="Arial" pitchFamily="34" charset="-122"/>
                <a:cs typeface="Arial" pitchFamily="34" charset="-120"/>
              </a:rPr>
              <a:t>Capital diligence review of the package, toward a term sheet</a:t>
            </a:r>
            <a:endParaRPr lang="en-US" sz="1250" dirty="0"/>
          </a:p>
          <a:p>
            <a:pPr marL="342900" indent="-342900">
              <a:buSzPct val="100000"/>
              <a:buChar char="•"/>
            </a:pPr>
            <a:r>
              <a:rPr lang="en-US" sz="1250" dirty="0">
                <a:solidFill>
                  <a:srgbClr val="CFE0EE"/>
                </a:solidFill>
                <a:latin typeface="Arial" pitchFamily="34" charset="0"/>
                <a:ea typeface="Arial" pitchFamily="34" charset="-122"/>
                <a:cs typeface="Arial" pitchFamily="34" charset="-120"/>
              </a:rPr>
              <a:t>Trademark clearance and the public-name decision before anything external</a:t>
            </a:r>
            <a:endParaRPr lang="en-US" sz="1250" dirty="0"/>
          </a:p>
        </p:txBody>
      </p:sp>
      <p:sp>
        <p:nvSpPr>
          <p:cNvPr id="23" name="Text 21"/>
          <p:cNvSpPr/>
          <p:nvPr/>
        </p:nvSpPr>
        <p:spPr>
          <a:xfrm>
            <a:off x="640080" y="5989320"/>
            <a:ext cx="10972800" cy="548640"/>
          </a:xfrm>
          <a:prstGeom prst="rect">
            <a:avLst/>
          </a:prstGeom>
          <a:noFill/>
          <a:ln/>
        </p:spPr>
        <p:txBody>
          <a:bodyPr wrap="square" rtlCol="0" anchor="ctr"/>
          <a:lstStyle/>
          <a:p>
            <a:pPr indent="0" marL="0">
              <a:buNone/>
            </a:pPr>
            <a:r>
              <a:rPr lang="en-US" sz="900" dirty="0">
                <a:solidFill>
                  <a:srgbClr val="8AA3BB"/>
                </a:solidFill>
                <a:latin typeface="Arial" pitchFamily="34" charset="0"/>
                <a:ea typeface="Arial" pitchFamily="34" charset="-122"/>
                <a:cs typeface="Arial" pitchFamily="34" charset="-120"/>
              </a:rPr>
              <a:t>INSITE (TM) is a pre-launch program concept administered by HGF Management Company. Not an offer of financing, legal advice, or investment advice. Not an offer to sell, or a solicitation of an offer to buy, any security. Subject to issuer approval and counsel review.</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2026-07-31T21:45:36Z</dcterms:created>
  <dcterms:modified xsi:type="dcterms:W3CDTF">2026-07-31T21:45:36Z</dcterms:modified>
</cp:coreProperties>
</file>